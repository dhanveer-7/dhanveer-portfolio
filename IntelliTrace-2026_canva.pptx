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Barlow" panose="00000500000000000000" pitchFamily="2" charset="0"/>
      <p:regular r:id="rId15"/>
    </p:embeddedFont>
    <p:embeddedFont>
      <p:font typeface="Barlow Bold" panose="020B0604020202020204" charset="0"/>
      <p:regular r:id="rId16"/>
    </p:embeddedFont>
    <p:embeddedFont>
      <p:font typeface="Barlow Light" panose="00000400000000000000" pitchFamily="2" charset="0"/>
      <p:regular r:id="rId17"/>
    </p:embeddedFont>
    <p:embeddedFont>
      <p:font typeface="Barlow Medium" panose="00000600000000000000" pitchFamily="2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14.07.2026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91718">
                <a:alpha val="90196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080049" y="2687841"/>
            <a:ext cx="6858000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49"/>
              </a:lnSpc>
            </a:pPr>
            <a:r>
              <a:rPr lang="en-US" sz="5374" b="1">
                <a:solidFill>
                  <a:srgbClr val="FFFFFF"/>
                </a:solidFill>
                <a:latin typeface="Barlow Medium"/>
                <a:ea typeface="Barlow Medium"/>
                <a:cs typeface="Barlow Medium"/>
                <a:sym typeface="Barlow Medium"/>
              </a:rPr>
              <a:t>IntelliTrace 2026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80049" y="3687518"/>
            <a:ext cx="9269911" cy="2076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74"/>
              </a:lnSpc>
            </a:pPr>
            <a:r>
              <a:rPr lang="en-US" sz="4312" b="1">
                <a:solidFill>
                  <a:srgbClr val="FFFFFF"/>
                </a:solidFill>
                <a:latin typeface="Barlow Medium"/>
                <a:ea typeface="Barlow Medium"/>
                <a:cs typeface="Barlow Medium"/>
                <a:sym typeface="Barlow Medium"/>
              </a:rPr>
              <a:t>Real-Time Cross-Channel Mule Account Detection Using Graph Intelligence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80049" y="6121603"/>
            <a:ext cx="9269911" cy="598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375" b="1">
                <a:solidFill>
                  <a:srgbClr val="E5E0DF"/>
                </a:solidFill>
                <a:latin typeface="Barlow Bold"/>
                <a:ea typeface="Barlow Bold"/>
                <a:cs typeface="Barlow Bold"/>
                <a:sym typeface="Barlow Bold"/>
              </a:rPr>
              <a:t>Team:</a:t>
            </a:r>
            <a:r>
              <a:rPr lang="en-US" sz="2375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Cyber Dynamos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80049" y="6962480"/>
            <a:ext cx="9269911" cy="598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375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Dhinith Pragalyan M • Dhanveer M • Elamaran B • Venkatesan 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47625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91718">
                <a:alpha val="90196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080049" y="2049666"/>
            <a:ext cx="6858000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49"/>
              </a:lnSpc>
            </a:pPr>
            <a:r>
              <a:rPr lang="en-US" sz="5374" b="1">
                <a:solidFill>
                  <a:srgbClr val="FFFFFF"/>
                </a:solidFill>
                <a:latin typeface="Barlow Medium"/>
                <a:ea typeface="Barlow Medium"/>
                <a:cs typeface="Barlow Medium"/>
                <a:sym typeface="Barlow Medium"/>
              </a:rPr>
              <a:t>Abstract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80049" y="3303089"/>
            <a:ext cx="9269911" cy="2080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375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Money mule networks exploit multi-channel banking systems by rapidly transferring funds across mobile apps, web platforms, wallets, and ATMs to obscure fraudulent trails. Traditional rule-based systems fail due to siloed data and lack of network-level visibility.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80049" y="5625408"/>
            <a:ext cx="9269911" cy="2573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375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We propose a </a:t>
            </a:r>
            <a:r>
              <a:rPr lang="en-US" sz="2375" b="1">
                <a:solidFill>
                  <a:srgbClr val="E5E0DF"/>
                </a:solidFill>
                <a:latin typeface="Barlow Bold"/>
                <a:ea typeface="Barlow Bold"/>
                <a:cs typeface="Barlow Bold"/>
                <a:sym typeface="Barlow Bold"/>
              </a:rPr>
              <a:t>real-time Graph Intelligence Platform</a:t>
            </a:r>
            <a:r>
              <a:rPr lang="en-US" sz="2375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that unifies multi-channel logs into a structured entity graph and applies </a:t>
            </a:r>
            <a:r>
              <a:rPr lang="en-US" sz="2375" b="1">
                <a:solidFill>
                  <a:srgbClr val="E5E0DF"/>
                </a:solidFill>
                <a:latin typeface="Barlow Bold"/>
                <a:ea typeface="Barlow Bold"/>
                <a:cs typeface="Barlow Bold"/>
                <a:sym typeface="Barlow Bold"/>
              </a:rPr>
              <a:t>Graph Neural Networks (GNN)</a:t>
            </a:r>
            <a:r>
              <a:rPr lang="en-US" sz="2375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to detect high-velocity mule rings. The system generates explainable risk scores, supports compliance reporting, and enables proactive fraud prevention.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91718">
                <a:alpha val="90196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768401" y="1582941"/>
            <a:ext cx="4879181" cy="628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0"/>
              </a:lnSpc>
            </a:pPr>
            <a:r>
              <a:rPr lang="en-US" sz="3812" b="1">
                <a:solidFill>
                  <a:srgbClr val="FFFFFF"/>
                </a:solidFill>
                <a:latin typeface="Barlow Medium"/>
                <a:ea typeface="Barlow Medium"/>
                <a:cs typeface="Barlow Medium"/>
                <a:sym typeface="Barlow Medium"/>
              </a:rPr>
              <a:t>Problem Statement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763638" y="2441229"/>
            <a:ext cx="4877991" cy="2281685"/>
            <a:chOff x="0" y="0"/>
            <a:chExt cx="6503988" cy="3042247"/>
          </a:xfrm>
        </p:grpSpPr>
        <p:sp>
          <p:nvSpPr>
            <p:cNvPr id="10" name="Freeform 10"/>
            <p:cNvSpPr/>
            <p:nvPr/>
          </p:nvSpPr>
          <p:spPr>
            <a:xfrm>
              <a:off x="6350" y="6350"/>
              <a:ext cx="6491224" cy="3029458"/>
            </a:xfrm>
            <a:custGeom>
              <a:avLst/>
              <a:gdLst/>
              <a:ahLst/>
              <a:cxnLst/>
              <a:rect l="l" t="t" r="r" b="b"/>
              <a:pathLst>
                <a:path w="6491224" h="3029458">
                  <a:moveTo>
                    <a:pt x="0" y="122936"/>
                  </a:moveTo>
                  <a:cubicBezTo>
                    <a:pt x="0" y="55118"/>
                    <a:pt x="55118" y="0"/>
                    <a:pt x="123190" y="0"/>
                  </a:cubicBezTo>
                  <a:lnTo>
                    <a:pt x="6368034" y="0"/>
                  </a:lnTo>
                  <a:cubicBezTo>
                    <a:pt x="6436106" y="0"/>
                    <a:pt x="6491224" y="55118"/>
                    <a:pt x="6491224" y="122936"/>
                  </a:cubicBezTo>
                  <a:lnTo>
                    <a:pt x="6491224" y="2906522"/>
                  </a:lnTo>
                  <a:cubicBezTo>
                    <a:pt x="6491224" y="2974467"/>
                    <a:pt x="6436106" y="3029458"/>
                    <a:pt x="6368034" y="3029458"/>
                  </a:cubicBezTo>
                  <a:lnTo>
                    <a:pt x="123190" y="3029458"/>
                  </a:lnTo>
                  <a:cubicBezTo>
                    <a:pt x="55118" y="3029458"/>
                    <a:pt x="0" y="2974340"/>
                    <a:pt x="0" y="2906522"/>
                  </a:cubicBezTo>
                  <a:close/>
                </a:path>
              </a:pathLst>
            </a:custGeom>
            <a:solidFill>
              <a:srgbClr val="790709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0" y="0"/>
              <a:ext cx="6503924" cy="3042158"/>
            </a:xfrm>
            <a:custGeom>
              <a:avLst/>
              <a:gdLst/>
              <a:ahLst/>
              <a:cxnLst/>
              <a:rect l="l" t="t" r="r" b="b"/>
              <a:pathLst>
                <a:path w="6503924" h="3042158">
                  <a:moveTo>
                    <a:pt x="0" y="129286"/>
                  </a:moveTo>
                  <a:cubicBezTo>
                    <a:pt x="0" y="57912"/>
                    <a:pt x="58039" y="0"/>
                    <a:pt x="129540" y="0"/>
                  </a:cubicBezTo>
                  <a:lnTo>
                    <a:pt x="6374384" y="0"/>
                  </a:lnTo>
                  <a:lnTo>
                    <a:pt x="6374384" y="6350"/>
                  </a:lnTo>
                  <a:lnTo>
                    <a:pt x="6374384" y="0"/>
                  </a:lnTo>
                  <a:cubicBezTo>
                    <a:pt x="6445885" y="0"/>
                    <a:pt x="6503924" y="57912"/>
                    <a:pt x="6503924" y="129286"/>
                  </a:cubicBezTo>
                  <a:lnTo>
                    <a:pt x="6497574" y="129286"/>
                  </a:lnTo>
                  <a:lnTo>
                    <a:pt x="6503924" y="129286"/>
                  </a:lnTo>
                  <a:lnTo>
                    <a:pt x="6503924" y="2912872"/>
                  </a:lnTo>
                  <a:lnTo>
                    <a:pt x="6497574" y="2912872"/>
                  </a:lnTo>
                  <a:lnTo>
                    <a:pt x="6503924" y="2912872"/>
                  </a:lnTo>
                  <a:cubicBezTo>
                    <a:pt x="6503924" y="2984246"/>
                    <a:pt x="6445885" y="3042158"/>
                    <a:pt x="6374384" y="3042158"/>
                  </a:cubicBezTo>
                  <a:lnTo>
                    <a:pt x="6374384" y="3035808"/>
                  </a:lnTo>
                  <a:lnTo>
                    <a:pt x="6374384" y="3042158"/>
                  </a:lnTo>
                  <a:lnTo>
                    <a:pt x="129540" y="3042158"/>
                  </a:lnTo>
                  <a:lnTo>
                    <a:pt x="129540" y="3035808"/>
                  </a:lnTo>
                  <a:lnTo>
                    <a:pt x="129540" y="3042158"/>
                  </a:lnTo>
                  <a:cubicBezTo>
                    <a:pt x="58039" y="3042158"/>
                    <a:pt x="0" y="2984246"/>
                    <a:pt x="0" y="2912872"/>
                  </a:cubicBezTo>
                  <a:lnTo>
                    <a:pt x="0" y="129286"/>
                  </a:lnTo>
                  <a:lnTo>
                    <a:pt x="6350" y="129286"/>
                  </a:lnTo>
                  <a:lnTo>
                    <a:pt x="0" y="129286"/>
                  </a:lnTo>
                  <a:moveTo>
                    <a:pt x="12700" y="129286"/>
                  </a:moveTo>
                  <a:lnTo>
                    <a:pt x="12700" y="2912872"/>
                  </a:lnTo>
                  <a:lnTo>
                    <a:pt x="6350" y="2912872"/>
                  </a:lnTo>
                  <a:lnTo>
                    <a:pt x="12700" y="2912872"/>
                  </a:lnTo>
                  <a:cubicBezTo>
                    <a:pt x="12700" y="2977261"/>
                    <a:pt x="65024" y="3029458"/>
                    <a:pt x="129540" y="3029458"/>
                  </a:cubicBezTo>
                  <a:lnTo>
                    <a:pt x="6374384" y="3029458"/>
                  </a:lnTo>
                  <a:cubicBezTo>
                    <a:pt x="6438900" y="3029458"/>
                    <a:pt x="6491224" y="2977261"/>
                    <a:pt x="6491224" y="2912872"/>
                  </a:cubicBezTo>
                  <a:lnTo>
                    <a:pt x="6491224" y="129286"/>
                  </a:lnTo>
                  <a:cubicBezTo>
                    <a:pt x="6491224" y="64897"/>
                    <a:pt x="6438900" y="12700"/>
                    <a:pt x="6374384" y="12700"/>
                  </a:cubicBezTo>
                  <a:lnTo>
                    <a:pt x="129540" y="12700"/>
                  </a:lnTo>
                  <a:lnTo>
                    <a:pt x="129540" y="6350"/>
                  </a:lnTo>
                  <a:lnTo>
                    <a:pt x="129540" y="12700"/>
                  </a:lnTo>
                  <a:cubicBezTo>
                    <a:pt x="65024" y="12700"/>
                    <a:pt x="12700" y="64897"/>
                    <a:pt x="12700" y="129286"/>
                  </a:cubicBezTo>
                  <a:close/>
                </a:path>
              </a:pathLst>
            </a:custGeom>
            <a:solidFill>
              <a:srgbClr val="922022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997448" y="2675039"/>
            <a:ext cx="658568" cy="658568"/>
            <a:chOff x="0" y="0"/>
            <a:chExt cx="878091" cy="87809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78078" cy="878078"/>
            </a:xfrm>
            <a:custGeom>
              <a:avLst/>
              <a:gdLst/>
              <a:ahLst/>
              <a:cxnLst/>
              <a:rect l="l" t="t" r="r" b="b"/>
              <a:pathLst>
                <a:path w="878078" h="878078">
                  <a:moveTo>
                    <a:pt x="0" y="439039"/>
                  </a:moveTo>
                  <a:cubicBezTo>
                    <a:pt x="0" y="196596"/>
                    <a:pt x="196596" y="0"/>
                    <a:pt x="439039" y="0"/>
                  </a:cubicBezTo>
                  <a:cubicBezTo>
                    <a:pt x="681482" y="0"/>
                    <a:pt x="878078" y="196596"/>
                    <a:pt x="878078" y="439039"/>
                  </a:cubicBezTo>
                  <a:cubicBezTo>
                    <a:pt x="878078" y="681482"/>
                    <a:pt x="681482" y="878078"/>
                    <a:pt x="439039" y="878078"/>
                  </a:cubicBezTo>
                  <a:cubicBezTo>
                    <a:pt x="196596" y="878078"/>
                    <a:pt x="0" y="681482"/>
                    <a:pt x="0" y="439039"/>
                  </a:cubicBezTo>
                  <a:close/>
                </a:path>
              </a:pathLst>
            </a:custGeom>
            <a:solidFill>
              <a:srgbClr val="F65F62"/>
            </a:solidFill>
          </p:spPr>
        </p:sp>
      </p:grpSp>
      <p:sp>
        <p:nvSpPr>
          <p:cNvPr id="14" name="Freeform 14" descr="preencoded.png"/>
          <p:cNvSpPr/>
          <p:nvPr/>
        </p:nvSpPr>
        <p:spPr>
          <a:xfrm>
            <a:off x="1178566" y="2856157"/>
            <a:ext cx="296313" cy="296313"/>
          </a:xfrm>
          <a:custGeom>
            <a:avLst/>
            <a:gdLst/>
            <a:ahLst/>
            <a:cxnLst/>
            <a:rect l="l" t="t" r="r" b="b"/>
            <a:pathLst>
              <a:path w="296313" h="296313">
                <a:moveTo>
                  <a:pt x="0" y="0"/>
                </a:moveTo>
                <a:lnTo>
                  <a:pt x="296314" y="0"/>
                </a:lnTo>
                <a:lnTo>
                  <a:pt x="296314" y="296313"/>
                </a:lnTo>
                <a:lnTo>
                  <a:pt x="0" y="2963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3124" r="-3127"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997448" y="3470672"/>
            <a:ext cx="2439591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74" b="1">
                <a:solidFill>
                  <a:srgbClr val="E5E0DF"/>
                </a:solidFill>
                <a:latin typeface="Barlow Medium"/>
                <a:ea typeface="Barlow Medium"/>
                <a:cs typeface="Barlow Medium"/>
                <a:sym typeface="Barlow Medium"/>
              </a:rPr>
              <a:t>Multi-Channel Fraud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97448" y="3850034"/>
            <a:ext cx="4410370" cy="639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87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Money mules move funds across App, Web, ATM, and UPI within minutes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5788228" y="2441229"/>
            <a:ext cx="4878143" cy="2281685"/>
            <a:chOff x="0" y="0"/>
            <a:chExt cx="6504191" cy="3042247"/>
          </a:xfrm>
        </p:grpSpPr>
        <p:sp>
          <p:nvSpPr>
            <p:cNvPr id="18" name="Freeform 18"/>
            <p:cNvSpPr/>
            <p:nvPr/>
          </p:nvSpPr>
          <p:spPr>
            <a:xfrm>
              <a:off x="6350" y="6350"/>
              <a:ext cx="6491478" cy="3029458"/>
            </a:xfrm>
            <a:custGeom>
              <a:avLst/>
              <a:gdLst/>
              <a:ahLst/>
              <a:cxnLst/>
              <a:rect l="l" t="t" r="r" b="b"/>
              <a:pathLst>
                <a:path w="6491478" h="3029458">
                  <a:moveTo>
                    <a:pt x="0" y="122936"/>
                  </a:moveTo>
                  <a:cubicBezTo>
                    <a:pt x="0" y="55118"/>
                    <a:pt x="55118" y="0"/>
                    <a:pt x="123190" y="0"/>
                  </a:cubicBezTo>
                  <a:lnTo>
                    <a:pt x="6368288" y="0"/>
                  </a:lnTo>
                  <a:cubicBezTo>
                    <a:pt x="6436360" y="0"/>
                    <a:pt x="6491478" y="55118"/>
                    <a:pt x="6491478" y="122936"/>
                  </a:cubicBezTo>
                  <a:lnTo>
                    <a:pt x="6491478" y="2906522"/>
                  </a:lnTo>
                  <a:cubicBezTo>
                    <a:pt x="6491478" y="2974467"/>
                    <a:pt x="6436360" y="3029458"/>
                    <a:pt x="6368288" y="3029458"/>
                  </a:cubicBezTo>
                  <a:lnTo>
                    <a:pt x="123190" y="3029458"/>
                  </a:lnTo>
                  <a:cubicBezTo>
                    <a:pt x="55118" y="3029458"/>
                    <a:pt x="0" y="2974340"/>
                    <a:pt x="0" y="2906522"/>
                  </a:cubicBezTo>
                  <a:close/>
                </a:path>
              </a:pathLst>
            </a:custGeom>
            <a:solidFill>
              <a:srgbClr val="790709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0"/>
              <a:ext cx="6504178" cy="3042158"/>
            </a:xfrm>
            <a:custGeom>
              <a:avLst/>
              <a:gdLst/>
              <a:ahLst/>
              <a:cxnLst/>
              <a:rect l="l" t="t" r="r" b="b"/>
              <a:pathLst>
                <a:path w="6504178" h="3042158">
                  <a:moveTo>
                    <a:pt x="0" y="129286"/>
                  </a:moveTo>
                  <a:cubicBezTo>
                    <a:pt x="0" y="57912"/>
                    <a:pt x="58039" y="0"/>
                    <a:pt x="129540" y="0"/>
                  </a:cubicBezTo>
                  <a:lnTo>
                    <a:pt x="6374638" y="0"/>
                  </a:lnTo>
                  <a:lnTo>
                    <a:pt x="6374638" y="6350"/>
                  </a:lnTo>
                  <a:lnTo>
                    <a:pt x="6374638" y="0"/>
                  </a:lnTo>
                  <a:cubicBezTo>
                    <a:pt x="6446139" y="0"/>
                    <a:pt x="6504178" y="57912"/>
                    <a:pt x="6504178" y="129286"/>
                  </a:cubicBezTo>
                  <a:lnTo>
                    <a:pt x="6497828" y="129286"/>
                  </a:lnTo>
                  <a:lnTo>
                    <a:pt x="6504178" y="129286"/>
                  </a:lnTo>
                  <a:lnTo>
                    <a:pt x="6504178" y="2912872"/>
                  </a:lnTo>
                  <a:lnTo>
                    <a:pt x="6497828" y="2912872"/>
                  </a:lnTo>
                  <a:lnTo>
                    <a:pt x="6504178" y="2912872"/>
                  </a:lnTo>
                  <a:cubicBezTo>
                    <a:pt x="6504178" y="2984246"/>
                    <a:pt x="6446139" y="3042158"/>
                    <a:pt x="6374638" y="3042158"/>
                  </a:cubicBezTo>
                  <a:lnTo>
                    <a:pt x="6374638" y="3035808"/>
                  </a:lnTo>
                  <a:lnTo>
                    <a:pt x="6374638" y="3042158"/>
                  </a:lnTo>
                  <a:lnTo>
                    <a:pt x="129540" y="3042158"/>
                  </a:lnTo>
                  <a:lnTo>
                    <a:pt x="129540" y="3035808"/>
                  </a:lnTo>
                  <a:lnTo>
                    <a:pt x="129540" y="3042158"/>
                  </a:lnTo>
                  <a:cubicBezTo>
                    <a:pt x="58039" y="3042158"/>
                    <a:pt x="0" y="2984246"/>
                    <a:pt x="0" y="2912872"/>
                  </a:cubicBezTo>
                  <a:lnTo>
                    <a:pt x="0" y="129286"/>
                  </a:lnTo>
                  <a:lnTo>
                    <a:pt x="6350" y="129286"/>
                  </a:lnTo>
                  <a:lnTo>
                    <a:pt x="0" y="129286"/>
                  </a:lnTo>
                  <a:moveTo>
                    <a:pt x="12700" y="129286"/>
                  </a:moveTo>
                  <a:lnTo>
                    <a:pt x="12700" y="2912872"/>
                  </a:lnTo>
                  <a:lnTo>
                    <a:pt x="6350" y="2912872"/>
                  </a:lnTo>
                  <a:lnTo>
                    <a:pt x="12700" y="2912872"/>
                  </a:lnTo>
                  <a:cubicBezTo>
                    <a:pt x="12700" y="2977261"/>
                    <a:pt x="65024" y="3029458"/>
                    <a:pt x="129540" y="3029458"/>
                  </a:cubicBezTo>
                  <a:lnTo>
                    <a:pt x="6374638" y="3029458"/>
                  </a:lnTo>
                  <a:cubicBezTo>
                    <a:pt x="6439154" y="3029458"/>
                    <a:pt x="6491478" y="2977261"/>
                    <a:pt x="6491478" y="2912872"/>
                  </a:cubicBezTo>
                  <a:lnTo>
                    <a:pt x="6491478" y="129286"/>
                  </a:lnTo>
                  <a:cubicBezTo>
                    <a:pt x="6491478" y="64897"/>
                    <a:pt x="6439154" y="12700"/>
                    <a:pt x="6374638" y="12700"/>
                  </a:cubicBezTo>
                  <a:lnTo>
                    <a:pt x="129540" y="12700"/>
                  </a:lnTo>
                  <a:lnTo>
                    <a:pt x="129540" y="6350"/>
                  </a:lnTo>
                  <a:lnTo>
                    <a:pt x="129540" y="12700"/>
                  </a:lnTo>
                  <a:cubicBezTo>
                    <a:pt x="65024" y="12700"/>
                    <a:pt x="12700" y="64897"/>
                    <a:pt x="12700" y="129286"/>
                  </a:cubicBezTo>
                  <a:close/>
                </a:path>
              </a:pathLst>
            </a:custGeom>
            <a:solidFill>
              <a:srgbClr val="922022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6022029" y="2675039"/>
            <a:ext cx="658568" cy="658568"/>
            <a:chOff x="0" y="0"/>
            <a:chExt cx="878091" cy="87809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78078" cy="878078"/>
            </a:xfrm>
            <a:custGeom>
              <a:avLst/>
              <a:gdLst/>
              <a:ahLst/>
              <a:cxnLst/>
              <a:rect l="l" t="t" r="r" b="b"/>
              <a:pathLst>
                <a:path w="878078" h="878078">
                  <a:moveTo>
                    <a:pt x="0" y="439039"/>
                  </a:moveTo>
                  <a:cubicBezTo>
                    <a:pt x="0" y="196596"/>
                    <a:pt x="196596" y="0"/>
                    <a:pt x="439039" y="0"/>
                  </a:cubicBezTo>
                  <a:cubicBezTo>
                    <a:pt x="681482" y="0"/>
                    <a:pt x="878078" y="196596"/>
                    <a:pt x="878078" y="439039"/>
                  </a:cubicBezTo>
                  <a:cubicBezTo>
                    <a:pt x="878078" y="681482"/>
                    <a:pt x="681482" y="878078"/>
                    <a:pt x="439039" y="878078"/>
                  </a:cubicBezTo>
                  <a:cubicBezTo>
                    <a:pt x="196596" y="878078"/>
                    <a:pt x="0" y="681482"/>
                    <a:pt x="0" y="439039"/>
                  </a:cubicBezTo>
                  <a:close/>
                </a:path>
              </a:pathLst>
            </a:custGeom>
            <a:solidFill>
              <a:srgbClr val="F65F62"/>
            </a:solidFill>
          </p:spPr>
        </p:sp>
      </p:grpSp>
      <p:sp>
        <p:nvSpPr>
          <p:cNvPr id="22" name="Freeform 22" descr="preencoded.png"/>
          <p:cNvSpPr/>
          <p:nvPr/>
        </p:nvSpPr>
        <p:spPr>
          <a:xfrm>
            <a:off x="6203156" y="2856157"/>
            <a:ext cx="296313" cy="296313"/>
          </a:xfrm>
          <a:custGeom>
            <a:avLst/>
            <a:gdLst/>
            <a:ahLst/>
            <a:cxnLst/>
            <a:rect l="l" t="t" r="r" b="b"/>
            <a:pathLst>
              <a:path w="296313" h="296313">
                <a:moveTo>
                  <a:pt x="0" y="0"/>
                </a:moveTo>
                <a:lnTo>
                  <a:pt x="296313" y="0"/>
                </a:lnTo>
                <a:lnTo>
                  <a:pt x="296313" y="296313"/>
                </a:lnTo>
                <a:lnTo>
                  <a:pt x="0" y="2963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6022029" y="3470672"/>
            <a:ext cx="2439591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74" b="1">
                <a:solidFill>
                  <a:srgbClr val="E5E0DF"/>
                </a:solidFill>
                <a:latin typeface="Barlow Medium"/>
                <a:ea typeface="Barlow Medium"/>
                <a:cs typeface="Barlow Medium"/>
                <a:sym typeface="Barlow Medium"/>
              </a:rPr>
              <a:t>Hidden Patterns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022029" y="3850034"/>
            <a:ext cx="4410523" cy="639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87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Fraud patterns are obscured across multiple systems and channels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763638" y="4869504"/>
            <a:ext cx="9902723" cy="1981200"/>
            <a:chOff x="0" y="0"/>
            <a:chExt cx="13203631" cy="2641600"/>
          </a:xfrm>
        </p:grpSpPr>
        <p:sp>
          <p:nvSpPr>
            <p:cNvPr id="26" name="Freeform 26"/>
            <p:cNvSpPr/>
            <p:nvPr/>
          </p:nvSpPr>
          <p:spPr>
            <a:xfrm>
              <a:off x="6350" y="6350"/>
              <a:ext cx="13190981" cy="2628900"/>
            </a:xfrm>
            <a:custGeom>
              <a:avLst/>
              <a:gdLst/>
              <a:ahLst/>
              <a:cxnLst/>
              <a:rect l="l" t="t" r="r" b="b"/>
              <a:pathLst>
                <a:path w="13190981" h="2628900">
                  <a:moveTo>
                    <a:pt x="0" y="122936"/>
                  </a:moveTo>
                  <a:cubicBezTo>
                    <a:pt x="0" y="54991"/>
                    <a:pt x="55245" y="0"/>
                    <a:pt x="123444" y="0"/>
                  </a:cubicBezTo>
                  <a:lnTo>
                    <a:pt x="13067537" y="0"/>
                  </a:lnTo>
                  <a:cubicBezTo>
                    <a:pt x="13135736" y="0"/>
                    <a:pt x="13190981" y="54991"/>
                    <a:pt x="13190981" y="122936"/>
                  </a:cubicBezTo>
                  <a:lnTo>
                    <a:pt x="13190981" y="2505964"/>
                  </a:lnTo>
                  <a:cubicBezTo>
                    <a:pt x="13190981" y="2573909"/>
                    <a:pt x="13135736" y="2628900"/>
                    <a:pt x="13067537" y="2628900"/>
                  </a:cubicBezTo>
                  <a:lnTo>
                    <a:pt x="123444" y="2628900"/>
                  </a:lnTo>
                  <a:cubicBezTo>
                    <a:pt x="55245" y="2628900"/>
                    <a:pt x="0" y="2573909"/>
                    <a:pt x="0" y="2505964"/>
                  </a:cubicBezTo>
                  <a:close/>
                </a:path>
              </a:pathLst>
            </a:custGeom>
            <a:solidFill>
              <a:srgbClr val="790709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0" y="0"/>
              <a:ext cx="13203681" cy="2641600"/>
            </a:xfrm>
            <a:custGeom>
              <a:avLst/>
              <a:gdLst/>
              <a:ahLst/>
              <a:cxnLst/>
              <a:rect l="l" t="t" r="r" b="b"/>
              <a:pathLst>
                <a:path w="13203681" h="2641600">
                  <a:moveTo>
                    <a:pt x="0" y="129286"/>
                  </a:moveTo>
                  <a:cubicBezTo>
                    <a:pt x="0" y="57912"/>
                    <a:pt x="58166" y="0"/>
                    <a:pt x="129794" y="0"/>
                  </a:cubicBezTo>
                  <a:lnTo>
                    <a:pt x="13073887" y="0"/>
                  </a:lnTo>
                  <a:lnTo>
                    <a:pt x="13073887" y="6350"/>
                  </a:lnTo>
                  <a:lnTo>
                    <a:pt x="13073887" y="0"/>
                  </a:lnTo>
                  <a:cubicBezTo>
                    <a:pt x="13145515" y="0"/>
                    <a:pt x="13203681" y="57912"/>
                    <a:pt x="13203681" y="129286"/>
                  </a:cubicBezTo>
                  <a:lnTo>
                    <a:pt x="13197331" y="129286"/>
                  </a:lnTo>
                  <a:lnTo>
                    <a:pt x="13203681" y="129286"/>
                  </a:lnTo>
                  <a:lnTo>
                    <a:pt x="13203681" y="2512314"/>
                  </a:lnTo>
                  <a:lnTo>
                    <a:pt x="13197331" y="2512314"/>
                  </a:lnTo>
                  <a:lnTo>
                    <a:pt x="13203681" y="2512314"/>
                  </a:lnTo>
                  <a:cubicBezTo>
                    <a:pt x="13203681" y="2583688"/>
                    <a:pt x="13145515" y="2641600"/>
                    <a:pt x="13073887" y="2641600"/>
                  </a:cubicBezTo>
                  <a:lnTo>
                    <a:pt x="13073887" y="2635250"/>
                  </a:lnTo>
                  <a:lnTo>
                    <a:pt x="13073887" y="2641600"/>
                  </a:lnTo>
                  <a:lnTo>
                    <a:pt x="129794" y="2641600"/>
                  </a:lnTo>
                  <a:lnTo>
                    <a:pt x="129794" y="2635250"/>
                  </a:lnTo>
                  <a:lnTo>
                    <a:pt x="129794" y="2641600"/>
                  </a:lnTo>
                  <a:cubicBezTo>
                    <a:pt x="58166" y="2641600"/>
                    <a:pt x="0" y="2583688"/>
                    <a:pt x="0" y="2512314"/>
                  </a:cubicBezTo>
                  <a:lnTo>
                    <a:pt x="0" y="129286"/>
                  </a:lnTo>
                  <a:lnTo>
                    <a:pt x="6350" y="129286"/>
                  </a:lnTo>
                  <a:lnTo>
                    <a:pt x="0" y="129286"/>
                  </a:lnTo>
                  <a:moveTo>
                    <a:pt x="12700" y="129286"/>
                  </a:moveTo>
                  <a:lnTo>
                    <a:pt x="12700" y="2512314"/>
                  </a:lnTo>
                  <a:lnTo>
                    <a:pt x="6350" y="2512314"/>
                  </a:lnTo>
                  <a:lnTo>
                    <a:pt x="12700" y="2512314"/>
                  </a:lnTo>
                  <a:cubicBezTo>
                    <a:pt x="12700" y="2576703"/>
                    <a:pt x="65151" y="2628900"/>
                    <a:pt x="129794" y="2628900"/>
                  </a:cubicBezTo>
                  <a:lnTo>
                    <a:pt x="13073887" y="2628900"/>
                  </a:lnTo>
                  <a:cubicBezTo>
                    <a:pt x="13138530" y="2628900"/>
                    <a:pt x="13190981" y="2576703"/>
                    <a:pt x="13190981" y="2512314"/>
                  </a:cubicBezTo>
                  <a:lnTo>
                    <a:pt x="13190981" y="129286"/>
                  </a:lnTo>
                  <a:cubicBezTo>
                    <a:pt x="13190981" y="64897"/>
                    <a:pt x="13138530" y="12700"/>
                    <a:pt x="13073887" y="12700"/>
                  </a:cubicBezTo>
                  <a:lnTo>
                    <a:pt x="129794" y="12700"/>
                  </a:lnTo>
                  <a:lnTo>
                    <a:pt x="129794" y="6350"/>
                  </a:lnTo>
                  <a:lnTo>
                    <a:pt x="129794" y="12700"/>
                  </a:lnTo>
                  <a:cubicBezTo>
                    <a:pt x="65151" y="12700"/>
                    <a:pt x="12700" y="64897"/>
                    <a:pt x="12700" y="129286"/>
                  </a:cubicBezTo>
                  <a:close/>
                </a:path>
              </a:pathLst>
            </a:custGeom>
            <a:solidFill>
              <a:srgbClr val="922022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997448" y="5103314"/>
            <a:ext cx="658568" cy="658568"/>
            <a:chOff x="0" y="0"/>
            <a:chExt cx="878091" cy="878091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78078" cy="878078"/>
            </a:xfrm>
            <a:custGeom>
              <a:avLst/>
              <a:gdLst/>
              <a:ahLst/>
              <a:cxnLst/>
              <a:rect l="l" t="t" r="r" b="b"/>
              <a:pathLst>
                <a:path w="878078" h="878078">
                  <a:moveTo>
                    <a:pt x="0" y="439039"/>
                  </a:moveTo>
                  <a:cubicBezTo>
                    <a:pt x="0" y="196596"/>
                    <a:pt x="196596" y="0"/>
                    <a:pt x="439039" y="0"/>
                  </a:cubicBezTo>
                  <a:cubicBezTo>
                    <a:pt x="681482" y="0"/>
                    <a:pt x="878078" y="196596"/>
                    <a:pt x="878078" y="439039"/>
                  </a:cubicBezTo>
                  <a:cubicBezTo>
                    <a:pt x="878078" y="681482"/>
                    <a:pt x="681482" y="878078"/>
                    <a:pt x="439039" y="878078"/>
                  </a:cubicBezTo>
                  <a:cubicBezTo>
                    <a:pt x="196596" y="878078"/>
                    <a:pt x="0" y="681482"/>
                    <a:pt x="0" y="439039"/>
                  </a:cubicBezTo>
                  <a:close/>
                </a:path>
              </a:pathLst>
            </a:custGeom>
            <a:solidFill>
              <a:srgbClr val="F65F62"/>
            </a:solidFill>
          </p:spPr>
        </p:sp>
      </p:grpSp>
      <p:sp>
        <p:nvSpPr>
          <p:cNvPr id="30" name="Freeform 30" descr="preencoded.png"/>
          <p:cNvSpPr/>
          <p:nvPr/>
        </p:nvSpPr>
        <p:spPr>
          <a:xfrm>
            <a:off x="1178566" y="5284441"/>
            <a:ext cx="296313" cy="296313"/>
          </a:xfrm>
          <a:custGeom>
            <a:avLst/>
            <a:gdLst/>
            <a:ahLst/>
            <a:cxnLst/>
            <a:rect l="l" t="t" r="r" b="b"/>
            <a:pathLst>
              <a:path w="296313" h="296313">
                <a:moveTo>
                  <a:pt x="0" y="0"/>
                </a:moveTo>
                <a:lnTo>
                  <a:pt x="296314" y="0"/>
                </a:lnTo>
                <a:lnTo>
                  <a:pt x="296314" y="296314"/>
                </a:lnTo>
                <a:lnTo>
                  <a:pt x="0" y="2963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997448" y="5898947"/>
            <a:ext cx="2494807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74" b="1">
                <a:solidFill>
                  <a:srgbClr val="E5E0DF"/>
                </a:solidFill>
                <a:latin typeface="Barlow Medium"/>
                <a:ea typeface="Barlow Medium"/>
                <a:cs typeface="Barlow Medium"/>
                <a:sym typeface="Barlow Medium"/>
              </a:rPr>
              <a:t>Rule-Based Limitations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97448" y="6278318"/>
            <a:ext cx="9435103" cy="338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87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Static rules detect isolated anomalies but miss relational fraud networks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768401" y="7021563"/>
            <a:ext cx="9893198" cy="1663456"/>
            <a:chOff x="0" y="0"/>
            <a:chExt cx="13190931" cy="2217941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3190855" cy="2217928"/>
            </a:xfrm>
            <a:custGeom>
              <a:avLst/>
              <a:gdLst/>
              <a:ahLst/>
              <a:cxnLst/>
              <a:rect l="l" t="t" r="r" b="b"/>
              <a:pathLst>
                <a:path w="13190855" h="2217928">
                  <a:moveTo>
                    <a:pt x="0" y="122936"/>
                  </a:moveTo>
                  <a:cubicBezTo>
                    <a:pt x="0" y="54991"/>
                    <a:pt x="54991" y="0"/>
                    <a:pt x="122936" y="0"/>
                  </a:cubicBezTo>
                  <a:lnTo>
                    <a:pt x="13067919" y="0"/>
                  </a:lnTo>
                  <a:cubicBezTo>
                    <a:pt x="13135863" y="0"/>
                    <a:pt x="13190855" y="54991"/>
                    <a:pt x="13190855" y="122936"/>
                  </a:cubicBezTo>
                  <a:lnTo>
                    <a:pt x="13190855" y="2094992"/>
                  </a:lnTo>
                  <a:cubicBezTo>
                    <a:pt x="13190855" y="2162937"/>
                    <a:pt x="13135863" y="2217928"/>
                    <a:pt x="13067919" y="2217928"/>
                  </a:cubicBezTo>
                  <a:lnTo>
                    <a:pt x="122936" y="2217928"/>
                  </a:lnTo>
                  <a:cubicBezTo>
                    <a:pt x="54991" y="2217928"/>
                    <a:pt x="0" y="2162937"/>
                    <a:pt x="0" y="2094992"/>
                  </a:cubicBezTo>
                  <a:close/>
                </a:path>
              </a:pathLst>
            </a:custGeom>
            <a:solidFill>
              <a:srgbClr val="480405"/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987923" y="7266537"/>
            <a:ext cx="304952" cy="243926"/>
            <a:chOff x="0" y="0"/>
            <a:chExt cx="406603" cy="325234"/>
          </a:xfrm>
        </p:grpSpPr>
        <p:sp>
          <p:nvSpPr>
            <p:cNvPr id="36" name="Freeform 36" descr="preencoded.png"/>
            <p:cNvSpPr/>
            <p:nvPr/>
          </p:nvSpPr>
          <p:spPr>
            <a:xfrm>
              <a:off x="0" y="0"/>
              <a:ext cx="406654" cy="325247"/>
            </a:xfrm>
            <a:custGeom>
              <a:avLst/>
              <a:gdLst/>
              <a:ahLst/>
              <a:cxnLst/>
              <a:rect l="l" t="t" r="r" b="b"/>
              <a:pathLst>
                <a:path w="406654" h="325247">
                  <a:moveTo>
                    <a:pt x="0" y="0"/>
                  </a:moveTo>
                  <a:lnTo>
                    <a:pt x="406654" y="0"/>
                  </a:lnTo>
                  <a:lnTo>
                    <a:pt x="406654" y="325247"/>
                  </a:lnTo>
                  <a:lnTo>
                    <a:pt x="0" y="3252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788" r="12" b="-784"/>
              </a:stretch>
            </a:blipFill>
          </p:spPr>
        </p:sp>
      </p:grpSp>
      <p:sp>
        <p:nvSpPr>
          <p:cNvPr id="37" name="TextBox 37"/>
          <p:cNvSpPr txBox="1"/>
          <p:nvPr/>
        </p:nvSpPr>
        <p:spPr>
          <a:xfrm>
            <a:off x="1512389" y="7213397"/>
            <a:ext cx="2439591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74" b="1">
                <a:solidFill>
                  <a:srgbClr val="FFFFFF"/>
                </a:solidFill>
                <a:latin typeface="Barlow Medium"/>
                <a:ea typeface="Barlow Medium"/>
                <a:cs typeface="Barlow Medium"/>
                <a:sym typeface="Barlow Medium"/>
              </a:rPr>
              <a:t>Example Pattern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512389" y="7655271"/>
            <a:ext cx="8929688" cy="338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87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Victim → Account A → Wallet B → Account C → ATM Withdrawal (within 5 minutes)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512389" y="8096250"/>
            <a:ext cx="8929688" cy="338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87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Fraud becomes visible only at </a:t>
            </a:r>
            <a:r>
              <a:rPr lang="en-US" sz="1687" b="1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network level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91718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080049" y="1992659"/>
            <a:ext cx="9448352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49"/>
              </a:lnSpc>
            </a:pPr>
            <a:r>
              <a:rPr lang="en-US" sz="5374" b="1">
                <a:solidFill>
                  <a:srgbClr val="FFFFFF"/>
                </a:solidFill>
                <a:latin typeface="Barlow Medium"/>
                <a:ea typeface="Barlow Medium"/>
                <a:cs typeface="Barlow Medium"/>
                <a:sym typeface="Barlow Medium"/>
              </a:rPr>
              <a:t>Limitations of Existing Systems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60999" y="3486150"/>
            <a:ext cx="7947717" cy="1838916"/>
            <a:chOff x="0" y="0"/>
            <a:chExt cx="10596956" cy="2451887"/>
          </a:xfrm>
        </p:grpSpPr>
        <p:sp>
          <p:nvSpPr>
            <p:cNvPr id="8" name="Freeform 8"/>
            <p:cNvSpPr/>
            <p:nvPr/>
          </p:nvSpPr>
          <p:spPr>
            <a:xfrm>
              <a:off x="25400" y="25400"/>
              <a:ext cx="10546080" cy="2401062"/>
            </a:xfrm>
            <a:custGeom>
              <a:avLst/>
              <a:gdLst/>
              <a:ahLst/>
              <a:cxnLst/>
              <a:rect l="l" t="t" r="r" b="b"/>
              <a:pathLst>
                <a:path w="10546080" h="2401062">
                  <a:moveTo>
                    <a:pt x="0" y="243840"/>
                  </a:moveTo>
                  <a:cubicBezTo>
                    <a:pt x="0" y="109220"/>
                    <a:pt x="110998" y="0"/>
                    <a:pt x="247777" y="0"/>
                  </a:cubicBezTo>
                  <a:lnTo>
                    <a:pt x="10298303" y="0"/>
                  </a:lnTo>
                  <a:cubicBezTo>
                    <a:pt x="10435210" y="0"/>
                    <a:pt x="10546080" y="109220"/>
                    <a:pt x="10546080" y="243840"/>
                  </a:cubicBezTo>
                  <a:lnTo>
                    <a:pt x="10546080" y="2157222"/>
                  </a:lnTo>
                  <a:cubicBezTo>
                    <a:pt x="10546080" y="2291842"/>
                    <a:pt x="10435082" y="2401062"/>
                    <a:pt x="10298303" y="2401062"/>
                  </a:cubicBezTo>
                  <a:lnTo>
                    <a:pt x="247777" y="2401062"/>
                  </a:lnTo>
                  <a:cubicBezTo>
                    <a:pt x="110871" y="2401062"/>
                    <a:pt x="0" y="2291842"/>
                    <a:pt x="0" y="2157222"/>
                  </a:cubicBezTo>
                  <a:close/>
                </a:path>
              </a:pathLst>
            </a:custGeom>
            <a:solidFill>
              <a:srgbClr val="191718">
                <a:alpha val="90196"/>
              </a:srgbClr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10596880" cy="2451862"/>
            </a:xfrm>
            <a:custGeom>
              <a:avLst/>
              <a:gdLst/>
              <a:ahLst/>
              <a:cxnLst/>
              <a:rect l="l" t="t" r="r" b="b"/>
              <a:pathLst>
                <a:path w="10596880" h="2451862">
                  <a:moveTo>
                    <a:pt x="0" y="269240"/>
                  </a:moveTo>
                  <a:cubicBezTo>
                    <a:pt x="0" y="120142"/>
                    <a:pt x="122682" y="0"/>
                    <a:pt x="273177" y="0"/>
                  </a:cubicBezTo>
                  <a:lnTo>
                    <a:pt x="10323703" y="0"/>
                  </a:lnTo>
                  <a:lnTo>
                    <a:pt x="10323703" y="25400"/>
                  </a:lnTo>
                  <a:lnTo>
                    <a:pt x="10323703" y="0"/>
                  </a:lnTo>
                  <a:cubicBezTo>
                    <a:pt x="10474198" y="0"/>
                    <a:pt x="10596880" y="120142"/>
                    <a:pt x="10596880" y="269240"/>
                  </a:cubicBezTo>
                  <a:lnTo>
                    <a:pt x="10571480" y="269240"/>
                  </a:lnTo>
                  <a:lnTo>
                    <a:pt x="10596880" y="269240"/>
                  </a:lnTo>
                  <a:lnTo>
                    <a:pt x="10596880" y="2182622"/>
                  </a:lnTo>
                  <a:lnTo>
                    <a:pt x="10571480" y="2182622"/>
                  </a:lnTo>
                  <a:lnTo>
                    <a:pt x="10596880" y="2182622"/>
                  </a:lnTo>
                  <a:cubicBezTo>
                    <a:pt x="10596880" y="2331720"/>
                    <a:pt x="10474198" y="2451862"/>
                    <a:pt x="10323703" y="2451862"/>
                  </a:cubicBezTo>
                  <a:lnTo>
                    <a:pt x="10323703" y="2426462"/>
                  </a:lnTo>
                  <a:lnTo>
                    <a:pt x="10323703" y="2451862"/>
                  </a:lnTo>
                  <a:lnTo>
                    <a:pt x="273177" y="2451862"/>
                  </a:lnTo>
                  <a:lnTo>
                    <a:pt x="273177" y="2426462"/>
                  </a:lnTo>
                  <a:lnTo>
                    <a:pt x="273177" y="2451862"/>
                  </a:lnTo>
                  <a:cubicBezTo>
                    <a:pt x="122682" y="2451862"/>
                    <a:pt x="0" y="2331720"/>
                    <a:pt x="0" y="2182622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182622"/>
                  </a:lnTo>
                  <a:lnTo>
                    <a:pt x="25400" y="2182622"/>
                  </a:lnTo>
                  <a:lnTo>
                    <a:pt x="50800" y="2182622"/>
                  </a:lnTo>
                  <a:cubicBezTo>
                    <a:pt x="50800" y="2302891"/>
                    <a:pt x="149987" y="2401062"/>
                    <a:pt x="273177" y="2401062"/>
                  </a:cubicBezTo>
                  <a:lnTo>
                    <a:pt x="10323703" y="2401062"/>
                  </a:lnTo>
                  <a:cubicBezTo>
                    <a:pt x="10446893" y="2401062"/>
                    <a:pt x="10546080" y="2302891"/>
                    <a:pt x="10546080" y="2182622"/>
                  </a:cubicBezTo>
                  <a:lnTo>
                    <a:pt x="10546080" y="269240"/>
                  </a:lnTo>
                  <a:cubicBezTo>
                    <a:pt x="10546080" y="148971"/>
                    <a:pt x="10446893" y="50800"/>
                    <a:pt x="10323703" y="50800"/>
                  </a:cubicBezTo>
                  <a:lnTo>
                    <a:pt x="273177" y="50800"/>
                  </a:lnTo>
                  <a:lnTo>
                    <a:pt x="273177" y="25400"/>
                  </a:lnTo>
                  <a:lnTo>
                    <a:pt x="273177" y="50800"/>
                  </a:lnTo>
                  <a:cubicBezTo>
                    <a:pt x="149987" y="50800"/>
                    <a:pt x="50800" y="148971"/>
                    <a:pt x="50800" y="269240"/>
                  </a:cubicBezTo>
                  <a:close/>
                </a:path>
              </a:pathLst>
            </a:custGeom>
            <a:solidFill>
              <a:srgbClr val="F65F62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041949" y="3505200"/>
            <a:ext cx="152400" cy="1800816"/>
            <a:chOff x="0" y="0"/>
            <a:chExt cx="203200" cy="240108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3200" cy="2401062"/>
            </a:xfrm>
            <a:custGeom>
              <a:avLst/>
              <a:gdLst/>
              <a:ahLst/>
              <a:cxnLst/>
              <a:rect l="l" t="t" r="r" b="b"/>
              <a:pathLst>
                <a:path w="203200" h="2401062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2299462"/>
                  </a:lnTo>
                  <a:cubicBezTo>
                    <a:pt x="203200" y="2355596"/>
                    <a:pt x="157734" y="2401062"/>
                    <a:pt x="101600" y="2401062"/>
                  </a:cubicBezTo>
                  <a:cubicBezTo>
                    <a:pt x="45466" y="2401062"/>
                    <a:pt x="0" y="2355596"/>
                    <a:pt x="0" y="2299462"/>
                  </a:cubicBezTo>
                  <a:close/>
                </a:path>
              </a:pathLst>
            </a:custGeom>
            <a:solidFill>
              <a:srgbClr val="F65F62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1540964" y="3832774"/>
            <a:ext cx="3589582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>
                <a:solidFill>
                  <a:srgbClr val="E5E0DF"/>
                </a:solidFill>
                <a:latin typeface="Barlow Medium"/>
                <a:ea typeface="Barlow Medium"/>
                <a:cs typeface="Barlow Medium"/>
                <a:sym typeface="Barlow Medium"/>
              </a:rPr>
              <a:t>Siloed Transaction Logs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40964" y="4360812"/>
            <a:ext cx="7102078" cy="598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375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Isolated data prevents holistic fraud view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279141" y="3486150"/>
            <a:ext cx="7947870" cy="1838916"/>
            <a:chOff x="0" y="0"/>
            <a:chExt cx="10597159" cy="2451887"/>
          </a:xfrm>
        </p:grpSpPr>
        <p:sp>
          <p:nvSpPr>
            <p:cNvPr id="15" name="Freeform 15"/>
            <p:cNvSpPr/>
            <p:nvPr/>
          </p:nvSpPr>
          <p:spPr>
            <a:xfrm>
              <a:off x="25400" y="25400"/>
              <a:ext cx="10546335" cy="2401062"/>
            </a:xfrm>
            <a:custGeom>
              <a:avLst/>
              <a:gdLst/>
              <a:ahLst/>
              <a:cxnLst/>
              <a:rect l="l" t="t" r="r" b="b"/>
              <a:pathLst>
                <a:path w="10546335" h="2401062">
                  <a:moveTo>
                    <a:pt x="0" y="243840"/>
                  </a:moveTo>
                  <a:cubicBezTo>
                    <a:pt x="0" y="109220"/>
                    <a:pt x="110998" y="0"/>
                    <a:pt x="247777" y="0"/>
                  </a:cubicBezTo>
                  <a:lnTo>
                    <a:pt x="10298557" y="0"/>
                  </a:lnTo>
                  <a:cubicBezTo>
                    <a:pt x="10435463" y="0"/>
                    <a:pt x="10546335" y="109220"/>
                    <a:pt x="10546335" y="243840"/>
                  </a:cubicBezTo>
                  <a:lnTo>
                    <a:pt x="10546335" y="2157222"/>
                  </a:lnTo>
                  <a:cubicBezTo>
                    <a:pt x="10546335" y="2291842"/>
                    <a:pt x="10435337" y="2401062"/>
                    <a:pt x="10298557" y="2401062"/>
                  </a:cubicBezTo>
                  <a:lnTo>
                    <a:pt x="247777" y="2401062"/>
                  </a:lnTo>
                  <a:cubicBezTo>
                    <a:pt x="110871" y="2401062"/>
                    <a:pt x="0" y="2291842"/>
                    <a:pt x="0" y="2157222"/>
                  </a:cubicBezTo>
                  <a:close/>
                </a:path>
              </a:pathLst>
            </a:custGeom>
            <a:solidFill>
              <a:srgbClr val="191718">
                <a:alpha val="90196"/>
              </a:srgbClr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10597135" cy="2451862"/>
            </a:xfrm>
            <a:custGeom>
              <a:avLst/>
              <a:gdLst/>
              <a:ahLst/>
              <a:cxnLst/>
              <a:rect l="l" t="t" r="r" b="b"/>
              <a:pathLst>
                <a:path w="10597135" h="2451862">
                  <a:moveTo>
                    <a:pt x="0" y="269240"/>
                  </a:moveTo>
                  <a:cubicBezTo>
                    <a:pt x="0" y="120142"/>
                    <a:pt x="122682" y="0"/>
                    <a:pt x="273177" y="0"/>
                  </a:cubicBezTo>
                  <a:lnTo>
                    <a:pt x="10323957" y="0"/>
                  </a:lnTo>
                  <a:lnTo>
                    <a:pt x="10323957" y="25400"/>
                  </a:lnTo>
                  <a:lnTo>
                    <a:pt x="10323957" y="0"/>
                  </a:lnTo>
                  <a:cubicBezTo>
                    <a:pt x="10474452" y="0"/>
                    <a:pt x="10597135" y="120142"/>
                    <a:pt x="10597135" y="269240"/>
                  </a:cubicBezTo>
                  <a:lnTo>
                    <a:pt x="10571735" y="269240"/>
                  </a:lnTo>
                  <a:lnTo>
                    <a:pt x="10597135" y="269240"/>
                  </a:lnTo>
                  <a:lnTo>
                    <a:pt x="10597135" y="2182622"/>
                  </a:lnTo>
                  <a:lnTo>
                    <a:pt x="10571735" y="2182622"/>
                  </a:lnTo>
                  <a:lnTo>
                    <a:pt x="10597135" y="2182622"/>
                  </a:lnTo>
                  <a:cubicBezTo>
                    <a:pt x="10597135" y="2331720"/>
                    <a:pt x="10474452" y="2451862"/>
                    <a:pt x="10323957" y="2451862"/>
                  </a:cubicBezTo>
                  <a:lnTo>
                    <a:pt x="10323957" y="2426462"/>
                  </a:lnTo>
                  <a:lnTo>
                    <a:pt x="10323957" y="2451862"/>
                  </a:lnTo>
                  <a:lnTo>
                    <a:pt x="273177" y="2451862"/>
                  </a:lnTo>
                  <a:lnTo>
                    <a:pt x="273177" y="2426462"/>
                  </a:lnTo>
                  <a:lnTo>
                    <a:pt x="273177" y="2451862"/>
                  </a:lnTo>
                  <a:cubicBezTo>
                    <a:pt x="122682" y="2451862"/>
                    <a:pt x="0" y="2331720"/>
                    <a:pt x="0" y="2182622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182622"/>
                  </a:lnTo>
                  <a:lnTo>
                    <a:pt x="25400" y="2182622"/>
                  </a:lnTo>
                  <a:lnTo>
                    <a:pt x="50800" y="2182622"/>
                  </a:lnTo>
                  <a:cubicBezTo>
                    <a:pt x="50800" y="2302891"/>
                    <a:pt x="149987" y="2401062"/>
                    <a:pt x="273177" y="2401062"/>
                  </a:cubicBezTo>
                  <a:lnTo>
                    <a:pt x="10323957" y="2401062"/>
                  </a:lnTo>
                  <a:cubicBezTo>
                    <a:pt x="10447148" y="2401062"/>
                    <a:pt x="10546335" y="2302891"/>
                    <a:pt x="10546335" y="2182622"/>
                  </a:cubicBezTo>
                  <a:lnTo>
                    <a:pt x="10546335" y="269240"/>
                  </a:lnTo>
                  <a:cubicBezTo>
                    <a:pt x="10546335" y="148971"/>
                    <a:pt x="10447148" y="50800"/>
                    <a:pt x="10323957" y="50800"/>
                  </a:cubicBezTo>
                  <a:lnTo>
                    <a:pt x="273177" y="50800"/>
                  </a:lnTo>
                  <a:lnTo>
                    <a:pt x="273177" y="25400"/>
                  </a:lnTo>
                  <a:lnTo>
                    <a:pt x="273177" y="50800"/>
                  </a:lnTo>
                  <a:cubicBezTo>
                    <a:pt x="149987" y="50800"/>
                    <a:pt x="50800" y="148971"/>
                    <a:pt x="50800" y="269240"/>
                  </a:cubicBezTo>
                  <a:close/>
                </a:path>
              </a:pathLst>
            </a:custGeom>
            <a:solidFill>
              <a:srgbClr val="F65F62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9260091" y="3505200"/>
            <a:ext cx="152400" cy="1800816"/>
            <a:chOff x="0" y="0"/>
            <a:chExt cx="203200" cy="240108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03200" cy="2401062"/>
            </a:xfrm>
            <a:custGeom>
              <a:avLst/>
              <a:gdLst/>
              <a:ahLst/>
              <a:cxnLst/>
              <a:rect l="l" t="t" r="r" b="b"/>
              <a:pathLst>
                <a:path w="203200" h="2401062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2299462"/>
                  </a:lnTo>
                  <a:cubicBezTo>
                    <a:pt x="203200" y="2355596"/>
                    <a:pt x="157734" y="2401062"/>
                    <a:pt x="101600" y="2401062"/>
                  </a:cubicBezTo>
                  <a:cubicBezTo>
                    <a:pt x="45466" y="2401062"/>
                    <a:pt x="0" y="2355596"/>
                    <a:pt x="0" y="2299462"/>
                  </a:cubicBezTo>
                  <a:close/>
                </a:path>
              </a:pathLst>
            </a:custGeom>
            <a:solidFill>
              <a:srgbClr val="F65F62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9759105" y="3832774"/>
            <a:ext cx="4424515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>
                <a:solidFill>
                  <a:srgbClr val="E5E0DF"/>
                </a:solidFill>
                <a:latin typeface="Barlow Medium"/>
                <a:ea typeface="Barlow Medium"/>
                <a:cs typeface="Barlow Medium"/>
                <a:sym typeface="Barlow Medium"/>
              </a:rPr>
              <a:t>Static Threshold-Based Rules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759105" y="4360812"/>
            <a:ext cx="7102231" cy="598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375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Inflexible rules miss evolving patterns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060999" y="5595490"/>
            <a:ext cx="7947717" cy="1838916"/>
            <a:chOff x="0" y="0"/>
            <a:chExt cx="10596956" cy="2451887"/>
          </a:xfrm>
        </p:grpSpPr>
        <p:sp>
          <p:nvSpPr>
            <p:cNvPr id="22" name="Freeform 22"/>
            <p:cNvSpPr/>
            <p:nvPr/>
          </p:nvSpPr>
          <p:spPr>
            <a:xfrm>
              <a:off x="25400" y="25400"/>
              <a:ext cx="10546080" cy="2401062"/>
            </a:xfrm>
            <a:custGeom>
              <a:avLst/>
              <a:gdLst/>
              <a:ahLst/>
              <a:cxnLst/>
              <a:rect l="l" t="t" r="r" b="b"/>
              <a:pathLst>
                <a:path w="10546080" h="2401062">
                  <a:moveTo>
                    <a:pt x="0" y="243840"/>
                  </a:moveTo>
                  <a:cubicBezTo>
                    <a:pt x="0" y="109220"/>
                    <a:pt x="110998" y="0"/>
                    <a:pt x="247777" y="0"/>
                  </a:cubicBezTo>
                  <a:lnTo>
                    <a:pt x="10298303" y="0"/>
                  </a:lnTo>
                  <a:cubicBezTo>
                    <a:pt x="10435210" y="0"/>
                    <a:pt x="10546080" y="109220"/>
                    <a:pt x="10546080" y="243840"/>
                  </a:cubicBezTo>
                  <a:lnTo>
                    <a:pt x="10546080" y="2157222"/>
                  </a:lnTo>
                  <a:cubicBezTo>
                    <a:pt x="10546080" y="2291842"/>
                    <a:pt x="10435082" y="2401062"/>
                    <a:pt x="10298303" y="2401062"/>
                  </a:cubicBezTo>
                  <a:lnTo>
                    <a:pt x="247777" y="2401062"/>
                  </a:lnTo>
                  <a:cubicBezTo>
                    <a:pt x="110871" y="2401062"/>
                    <a:pt x="0" y="2291842"/>
                    <a:pt x="0" y="2157222"/>
                  </a:cubicBezTo>
                  <a:close/>
                </a:path>
              </a:pathLst>
            </a:custGeom>
            <a:solidFill>
              <a:srgbClr val="191718">
                <a:alpha val="90196"/>
              </a:srgbClr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0" y="0"/>
              <a:ext cx="10596880" cy="2451862"/>
            </a:xfrm>
            <a:custGeom>
              <a:avLst/>
              <a:gdLst/>
              <a:ahLst/>
              <a:cxnLst/>
              <a:rect l="l" t="t" r="r" b="b"/>
              <a:pathLst>
                <a:path w="10596880" h="2451862">
                  <a:moveTo>
                    <a:pt x="0" y="269240"/>
                  </a:moveTo>
                  <a:cubicBezTo>
                    <a:pt x="0" y="120142"/>
                    <a:pt x="122682" y="0"/>
                    <a:pt x="273177" y="0"/>
                  </a:cubicBezTo>
                  <a:lnTo>
                    <a:pt x="10323703" y="0"/>
                  </a:lnTo>
                  <a:lnTo>
                    <a:pt x="10323703" y="25400"/>
                  </a:lnTo>
                  <a:lnTo>
                    <a:pt x="10323703" y="0"/>
                  </a:lnTo>
                  <a:cubicBezTo>
                    <a:pt x="10474198" y="0"/>
                    <a:pt x="10596880" y="120142"/>
                    <a:pt x="10596880" y="269240"/>
                  </a:cubicBezTo>
                  <a:lnTo>
                    <a:pt x="10571480" y="269240"/>
                  </a:lnTo>
                  <a:lnTo>
                    <a:pt x="10596880" y="269240"/>
                  </a:lnTo>
                  <a:lnTo>
                    <a:pt x="10596880" y="2182622"/>
                  </a:lnTo>
                  <a:lnTo>
                    <a:pt x="10571480" y="2182622"/>
                  </a:lnTo>
                  <a:lnTo>
                    <a:pt x="10596880" y="2182622"/>
                  </a:lnTo>
                  <a:cubicBezTo>
                    <a:pt x="10596880" y="2331720"/>
                    <a:pt x="10474198" y="2451862"/>
                    <a:pt x="10323703" y="2451862"/>
                  </a:cubicBezTo>
                  <a:lnTo>
                    <a:pt x="10323703" y="2426462"/>
                  </a:lnTo>
                  <a:lnTo>
                    <a:pt x="10323703" y="2451862"/>
                  </a:lnTo>
                  <a:lnTo>
                    <a:pt x="273177" y="2451862"/>
                  </a:lnTo>
                  <a:lnTo>
                    <a:pt x="273177" y="2426462"/>
                  </a:lnTo>
                  <a:lnTo>
                    <a:pt x="273177" y="2451862"/>
                  </a:lnTo>
                  <a:cubicBezTo>
                    <a:pt x="122682" y="2451862"/>
                    <a:pt x="0" y="2331720"/>
                    <a:pt x="0" y="2182622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182622"/>
                  </a:lnTo>
                  <a:lnTo>
                    <a:pt x="25400" y="2182622"/>
                  </a:lnTo>
                  <a:lnTo>
                    <a:pt x="50800" y="2182622"/>
                  </a:lnTo>
                  <a:cubicBezTo>
                    <a:pt x="50800" y="2302891"/>
                    <a:pt x="149987" y="2401062"/>
                    <a:pt x="273177" y="2401062"/>
                  </a:cubicBezTo>
                  <a:lnTo>
                    <a:pt x="10323703" y="2401062"/>
                  </a:lnTo>
                  <a:cubicBezTo>
                    <a:pt x="10446893" y="2401062"/>
                    <a:pt x="10546080" y="2302891"/>
                    <a:pt x="10546080" y="2182622"/>
                  </a:cubicBezTo>
                  <a:lnTo>
                    <a:pt x="10546080" y="269240"/>
                  </a:lnTo>
                  <a:cubicBezTo>
                    <a:pt x="10546080" y="148971"/>
                    <a:pt x="10446893" y="50800"/>
                    <a:pt x="10323703" y="50800"/>
                  </a:cubicBezTo>
                  <a:lnTo>
                    <a:pt x="273177" y="50800"/>
                  </a:lnTo>
                  <a:lnTo>
                    <a:pt x="273177" y="25400"/>
                  </a:lnTo>
                  <a:lnTo>
                    <a:pt x="273177" y="50800"/>
                  </a:lnTo>
                  <a:cubicBezTo>
                    <a:pt x="149987" y="50800"/>
                    <a:pt x="50800" y="148971"/>
                    <a:pt x="50800" y="269240"/>
                  </a:cubicBezTo>
                  <a:close/>
                </a:path>
              </a:pathLst>
            </a:custGeom>
            <a:solidFill>
              <a:srgbClr val="F65F62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1041949" y="5614540"/>
            <a:ext cx="152400" cy="1800816"/>
            <a:chOff x="0" y="0"/>
            <a:chExt cx="203200" cy="2401087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03200" cy="2401062"/>
            </a:xfrm>
            <a:custGeom>
              <a:avLst/>
              <a:gdLst/>
              <a:ahLst/>
              <a:cxnLst/>
              <a:rect l="l" t="t" r="r" b="b"/>
              <a:pathLst>
                <a:path w="203200" h="2401062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2299462"/>
                  </a:lnTo>
                  <a:cubicBezTo>
                    <a:pt x="203200" y="2355596"/>
                    <a:pt x="157734" y="2401062"/>
                    <a:pt x="101600" y="2401062"/>
                  </a:cubicBezTo>
                  <a:cubicBezTo>
                    <a:pt x="45466" y="2401062"/>
                    <a:pt x="0" y="2355596"/>
                    <a:pt x="0" y="2299462"/>
                  </a:cubicBezTo>
                  <a:close/>
                </a:path>
              </a:pathLst>
            </a:custGeom>
            <a:solidFill>
              <a:srgbClr val="F65F62"/>
            </a:solidFill>
          </p:spPr>
        </p:sp>
      </p:grpSp>
      <p:sp>
        <p:nvSpPr>
          <p:cNvPr id="26" name="TextBox 26"/>
          <p:cNvSpPr txBox="1"/>
          <p:nvPr/>
        </p:nvSpPr>
        <p:spPr>
          <a:xfrm>
            <a:off x="1540964" y="5942114"/>
            <a:ext cx="4174484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>
                <a:solidFill>
                  <a:srgbClr val="E5E0DF"/>
                </a:solidFill>
                <a:latin typeface="Barlow Medium"/>
                <a:ea typeface="Barlow Medium"/>
                <a:cs typeface="Barlow Medium"/>
                <a:sym typeface="Barlow Medium"/>
              </a:rPr>
              <a:t>No Relationship Intelligence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40964" y="6470152"/>
            <a:ext cx="7102078" cy="598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375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Missing account-device-IP connections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9279141" y="5595490"/>
            <a:ext cx="7947870" cy="1838916"/>
            <a:chOff x="0" y="0"/>
            <a:chExt cx="10597159" cy="2451887"/>
          </a:xfrm>
        </p:grpSpPr>
        <p:sp>
          <p:nvSpPr>
            <p:cNvPr id="29" name="Freeform 29"/>
            <p:cNvSpPr/>
            <p:nvPr/>
          </p:nvSpPr>
          <p:spPr>
            <a:xfrm>
              <a:off x="25400" y="25400"/>
              <a:ext cx="10546335" cy="2401062"/>
            </a:xfrm>
            <a:custGeom>
              <a:avLst/>
              <a:gdLst/>
              <a:ahLst/>
              <a:cxnLst/>
              <a:rect l="l" t="t" r="r" b="b"/>
              <a:pathLst>
                <a:path w="10546335" h="2401062">
                  <a:moveTo>
                    <a:pt x="0" y="243840"/>
                  </a:moveTo>
                  <a:cubicBezTo>
                    <a:pt x="0" y="109220"/>
                    <a:pt x="110998" y="0"/>
                    <a:pt x="247777" y="0"/>
                  </a:cubicBezTo>
                  <a:lnTo>
                    <a:pt x="10298557" y="0"/>
                  </a:lnTo>
                  <a:cubicBezTo>
                    <a:pt x="10435463" y="0"/>
                    <a:pt x="10546335" y="109220"/>
                    <a:pt x="10546335" y="243840"/>
                  </a:cubicBezTo>
                  <a:lnTo>
                    <a:pt x="10546335" y="2157222"/>
                  </a:lnTo>
                  <a:cubicBezTo>
                    <a:pt x="10546335" y="2291842"/>
                    <a:pt x="10435337" y="2401062"/>
                    <a:pt x="10298557" y="2401062"/>
                  </a:cubicBezTo>
                  <a:lnTo>
                    <a:pt x="247777" y="2401062"/>
                  </a:lnTo>
                  <a:cubicBezTo>
                    <a:pt x="110871" y="2401062"/>
                    <a:pt x="0" y="2291842"/>
                    <a:pt x="0" y="2157222"/>
                  </a:cubicBezTo>
                  <a:close/>
                </a:path>
              </a:pathLst>
            </a:custGeom>
            <a:solidFill>
              <a:srgbClr val="191718">
                <a:alpha val="90196"/>
              </a:srgbClr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0" y="0"/>
              <a:ext cx="10597135" cy="2451862"/>
            </a:xfrm>
            <a:custGeom>
              <a:avLst/>
              <a:gdLst/>
              <a:ahLst/>
              <a:cxnLst/>
              <a:rect l="l" t="t" r="r" b="b"/>
              <a:pathLst>
                <a:path w="10597135" h="2451862">
                  <a:moveTo>
                    <a:pt x="0" y="269240"/>
                  </a:moveTo>
                  <a:cubicBezTo>
                    <a:pt x="0" y="120142"/>
                    <a:pt x="122682" y="0"/>
                    <a:pt x="273177" y="0"/>
                  </a:cubicBezTo>
                  <a:lnTo>
                    <a:pt x="10323957" y="0"/>
                  </a:lnTo>
                  <a:lnTo>
                    <a:pt x="10323957" y="25400"/>
                  </a:lnTo>
                  <a:lnTo>
                    <a:pt x="10323957" y="0"/>
                  </a:lnTo>
                  <a:cubicBezTo>
                    <a:pt x="10474452" y="0"/>
                    <a:pt x="10597135" y="120142"/>
                    <a:pt x="10597135" y="269240"/>
                  </a:cubicBezTo>
                  <a:lnTo>
                    <a:pt x="10571735" y="269240"/>
                  </a:lnTo>
                  <a:lnTo>
                    <a:pt x="10597135" y="269240"/>
                  </a:lnTo>
                  <a:lnTo>
                    <a:pt x="10597135" y="2182622"/>
                  </a:lnTo>
                  <a:lnTo>
                    <a:pt x="10571735" y="2182622"/>
                  </a:lnTo>
                  <a:lnTo>
                    <a:pt x="10597135" y="2182622"/>
                  </a:lnTo>
                  <a:cubicBezTo>
                    <a:pt x="10597135" y="2331720"/>
                    <a:pt x="10474452" y="2451862"/>
                    <a:pt x="10323957" y="2451862"/>
                  </a:cubicBezTo>
                  <a:lnTo>
                    <a:pt x="10323957" y="2426462"/>
                  </a:lnTo>
                  <a:lnTo>
                    <a:pt x="10323957" y="2451862"/>
                  </a:lnTo>
                  <a:lnTo>
                    <a:pt x="273177" y="2451862"/>
                  </a:lnTo>
                  <a:lnTo>
                    <a:pt x="273177" y="2426462"/>
                  </a:lnTo>
                  <a:lnTo>
                    <a:pt x="273177" y="2451862"/>
                  </a:lnTo>
                  <a:cubicBezTo>
                    <a:pt x="122682" y="2451862"/>
                    <a:pt x="0" y="2331720"/>
                    <a:pt x="0" y="2182622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182622"/>
                  </a:lnTo>
                  <a:lnTo>
                    <a:pt x="25400" y="2182622"/>
                  </a:lnTo>
                  <a:lnTo>
                    <a:pt x="50800" y="2182622"/>
                  </a:lnTo>
                  <a:cubicBezTo>
                    <a:pt x="50800" y="2302891"/>
                    <a:pt x="149987" y="2401062"/>
                    <a:pt x="273177" y="2401062"/>
                  </a:cubicBezTo>
                  <a:lnTo>
                    <a:pt x="10323957" y="2401062"/>
                  </a:lnTo>
                  <a:cubicBezTo>
                    <a:pt x="10447148" y="2401062"/>
                    <a:pt x="10546335" y="2302891"/>
                    <a:pt x="10546335" y="2182622"/>
                  </a:cubicBezTo>
                  <a:lnTo>
                    <a:pt x="10546335" y="269240"/>
                  </a:lnTo>
                  <a:cubicBezTo>
                    <a:pt x="10546335" y="148971"/>
                    <a:pt x="10447148" y="50800"/>
                    <a:pt x="10323957" y="50800"/>
                  </a:cubicBezTo>
                  <a:lnTo>
                    <a:pt x="273177" y="50800"/>
                  </a:lnTo>
                  <a:lnTo>
                    <a:pt x="273177" y="25400"/>
                  </a:lnTo>
                  <a:lnTo>
                    <a:pt x="273177" y="50800"/>
                  </a:lnTo>
                  <a:cubicBezTo>
                    <a:pt x="149987" y="50800"/>
                    <a:pt x="50800" y="148971"/>
                    <a:pt x="50800" y="269240"/>
                  </a:cubicBezTo>
                  <a:close/>
                </a:path>
              </a:pathLst>
            </a:custGeom>
            <a:solidFill>
              <a:srgbClr val="F65F62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9260091" y="5614540"/>
            <a:ext cx="152400" cy="1800816"/>
            <a:chOff x="0" y="0"/>
            <a:chExt cx="203200" cy="2401087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03200" cy="2401062"/>
            </a:xfrm>
            <a:custGeom>
              <a:avLst/>
              <a:gdLst/>
              <a:ahLst/>
              <a:cxnLst/>
              <a:rect l="l" t="t" r="r" b="b"/>
              <a:pathLst>
                <a:path w="203200" h="2401062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2299462"/>
                  </a:lnTo>
                  <a:cubicBezTo>
                    <a:pt x="203200" y="2355596"/>
                    <a:pt x="157734" y="2401062"/>
                    <a:pt x="101600" y="2401062"/>
                  </a:cubicBezTo>
                  <a:cubicBezTo>
                    <a:pt x="45466" y="2401062"/>
                    <a:pt x="0" y="2355596"/>
                    <a:pt x="0" y="2299462"/>
                  </a:cubicBezTo>
                  <a:close/>
                </a:path>
              </a:pathLst>
            </a:custGeom>
            <a:solidFill>
              <a:srgbClr val="F65F62"/>
            </a:solidFill>
          </p:spPr>
        </p:sp>
      </p:grpSp>
      <p:sp>
        <p:nvSpPr>
          <p:cNvPr id="33" name="TextBox 33"/>
          <p:cNvSpPr txBox="1"/>
          <p:nvPr/>
        </p:nvSpPr>
        <p:spPr>
          <a:xfrm>
            <a:off x="9759105" y="5942114"/>
            <a:ext cx="3429000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>
                <a:solidFill>
                  <a:srgbClr val="E5E0DF"/>
                </a:solidFill>
                <a:latin typeface="Barlow Medium"/>
                <a:ea typeface="Barlow Medium"/>
                <a:cs typeface="Barlow Medium"/>
                <a:sym typeface="Barlow Medium"/>
              </a:rPr>
              <a:t>Limited Explainability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759105" y="6470152"/>
            <a:ext cx="7102231" cy="598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375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Black-box alerts lack audit trails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80049" y="7657652"/>
            <a:ext cx="16127911" cy="598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375" b="1">
                <a:solidFill>
                  <a:srgbClr val="E5E0DF"/>
                </a:solidFill>
                <a:latin typeface="Barlow Bold"/>
                <a:ea typeface="Barlow Bold"/>
                <a:cs typeface="Barlow Bold"/>
                <a:sym typeface="Barlow Bold"/>
              </a:rPr>
              <a:t>Result:</a:t>
            </a:r>
            <a:r>
              <a:rPr lang="en-US" sz="2375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Fraud rings operate undetected until significant financial loss occurs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91718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84352" y="1080049"/>
            <a:ext cx="7660481" cy="819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25"/>
              </a:lnSpc>
            </a:pPr>
            <a:r>
              <a:rPr lang="en-US" sz="4875" b="1">
                <a:solidFill>
                  <a:srgbClr val="FFFFFF"/>
                </a:solidFill>
                <a:latin typeface="Barlow Medium"/>
                <a:ea typeface="Barlow Medium"/>
                <a:cs typeface="Barlow Medium"/>
                <a:sym typeface="Barlow Medium"/>
              </a:rPr>
              <a:t>Proposed Solution Overview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84352" y="2335854"/>
            <a:ext cx="281140" cy="427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187">
                <a:solidFill>
                  <a:srgbClr val="E5E0DF"/>
                </a:solidFill>
                <a:latin typeface="Barlow Light"/>
                <a:ea typeface="Barlow Light"/>
                <a:cs typeface="Barlow Light"/>
                <a:sym typeface="Barlow Light"/>
              </a:rPr>
              <a:t>01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84352" y="2851842"/>
            <a:ext cx="8031509" cy="38100"/>
            <a:chOff x="0" y="0"/>
            <a:chExt cx="10708678" cy="50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708640" cy="50800"/>
            </a:xfrm>
            <a:custGeom>
              <a:avLst/>
              <a:gdLst/>
              <a:ahLst/>
              <a:cxnLst/>
              <a:rect l="l" t="t" r="r" b="b"/>
              <a:pathLst>
                <a:path w="10708640" h="50800">
                  <a:moveTo>
                    <a:pt x="0" y="0"/>
                  </a:moveTo>
                  <a:lnTo>
                    <a:pt x="10708640" y="0"/>
                  </a:lnTo>
                  <a:lnTo>
                    <a:pt x="1070864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65F62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984352" y="3049486"/>
            <a:ext cx="3803447" cy="409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 b="1">
                <a:solidFill>
                  <a:srgbClr val="E5E0DF"/>
                </a:solidFill>
                <a:latin typeface="Barlow Medium"/>
                <a:ea typeface="Barlow Medium"/>
                <a:cs typeface="Barlow Medium"/>
                <a:sym typeface="Barlow Medium"/>
              </a:rPr>
              <a:t>Multi-Channel Log Ingestion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84352" y="3536747"/>
            <a:ext cx="8031509" cy="506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187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Unified data collection from all banking channels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272140" y="2335854"/>
            <a:ext cx="281140" cy="427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187">
                <a:solidFill>
                  <a:srgbClr val="E5E0DF"/>
                </a:solidFill>
                <a:latin typeface="Barlow Light"/>
                <a:ea typeface="Barlow Light"/>
                <a:cs typeface="Barlow Light"/>
                <a:sym typeface="Barlow Light"/>
              </a:rPr>
              <a:t>02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272140" y="2851842"/>
            <a:ext cx="8031509" cy="38100"/>
            <a:chOff x="0" y="0"/>
            <a:chExt cx="10708678" cy="50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708640" cy="50800"/>
            </a:xfrm>
            <a:custGeom>
              <a:avLst/>
              <a:gdLst/>
              <a:ahLst/>
              <a:cxnLst/>
              <a:rect l="l" t="t" r="r" b="b"/>
              <a:pathLst>
                <a:path w="10708640" h="50800">
                  <a:moveTo>
                    <a:pt x="0" y="0"/>
                  </a:moveTo>
                  <a:lnTo>
                    <a:pt x="10708640" y="0"/>
                  </a:lnTo>
                  <a:lnTo>
                    <a:pt x="1070864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65F62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9272140" y="3049486"/>
            <a:ext cx="4582268" cy="409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 b="1">
                <a:solidFill>
                  <a:srgbClr val="E5E0DF"/>
                </a:solidFill>
                <a:latin typeface="Barlow Medium"/>
                <a:ea typeface="Barlow Medium"/>
                <a:cs typeface="Barlow Medium"/>
                <a:sym typeface="Barlow Medium"/>
              </a:rPr>
              <a:t>Unified Entity Graph Construction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272140" y="3536747"/>
            <a:ext cx="8031509" cy="506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187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Structured graph of accounts, devices, IPs, and transactions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84352" y="4434040"/>
            <a:ext cx="281140" cy="427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187">
                <a:solidFill>
                  <a:srgbClr val="E5E0DF"/>
                </a:solidFill>
                <a:latin typeface="Barlow Light"/>
                <a:ea typeface="Barlow Light"/>
                <a:cs typeface="Barlow Light"/>
                <a:sym typeface="Barlow Light"/>
              </a:rPr>
              <a:t>03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984352" y="4950028"/>
            <a:ext cx="8031509" cy="38100"/>
            <a:chOff x="0" y="0"/>
            <a:chExt cx="10708678" cy="50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708640" cy="50800"/>
            </a:xfrm>
            <a:custGeom>
              <a:avLst/>
              <a:gdLst/>
              <a:ahLst/>
              <a:cxnLst/>
              <a:rect l="l" t="t" r="r" b="b"/>
              <a:pathLst>
                <a:path w="10708640" h="50800">
                  <a:moveTo>
                    <a:pt x="0" y="0"/>
                  </a:moveTo>
                  <a:lnTo>
                    <a:pt x="10708640" y="0"/>
                  </a:lnTo>
                  <a:lnTo>
                    <a:pt x="1070864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65F62"/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984352" y="5147672"/>
            <a:ext cx="3125095" cy="409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 b="1">
                <a:solidFill>
                  <a:srgbClr val="E5E0DF"/>
                </a:solidFill>
                <a:latin typeface="Barlow Medium"/>
                <a:ea typeface="Barlow Medium"/>
                <a:cs typeface="Barlow Medium"/>
                <a:sym typeface="Barlow Medium"/>
              </a:rPr>
              <a:t>Feature Extraction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84352" y="5634933"/>
            <a:ext cx="8031509" cy="506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187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Relational pattern analysis and velocity metrics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272140" y="4434040"/>
            <a:ext cx="281140" cy="427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187">
                <a:solidFill>
                  <a:srgbClr val="E5E0DF"/>
                </a:solidFill>
                <a:latin typeface="Barlow Light"/>
                <a:ea typeface="Barlow Light"/>
                <a:cs typeface="Barlow Light"/>
                <a:sym typeface="Barlow Light"/>
              </a:rPr>
              <a:t>04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272140" y="4950028"/>
            <a:ext cx="8031509" cy="38100"/>
            <a:chOff x="0" y="0"/>
            <a:chExt cx="10708678" cy="50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708640" cy="50800"/>
            </a:xfrm>
            <a:custGeom>
              <a:avLst/>
              <a:gdLst/>
              <a:ahLst/>
              <a:cxnLst/>
              <a:rect l="l" t="t" r="r" b="b"/>
              <a:pathLst>
                <a:path w="10708640" h="50800">
                  <a:moveTo>
                    <a:pt x="0" y="0"/>
                  </a:moveTo>
                  <a:lnTo>
                    <a:pt x="10708640" y="0"/>
                  </a:lnTo>
                  <a:lnTo>
                    <a:pt x="1070864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65F62"/>
            </a:solidFill>
          </p:spPr>
        </p:sp>
      </p:grpSp>
      <p:sp>
        <p:nvSpPr>
          <p:cNvPr id="25" name="TextBox 25"/>
          <p:cNvSpPr txBox="1"/>
          <p:nvPr/>
        </p:nvSpPr>
        <p:spPr>
          <a:xfrm>
            <a:off x="9272140" y="5147672"/>
            <a:ext cx="3503562" cy="409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 b="1">
                <a:solidFill>
                  <a:srgbClr val="E5E0DF"/>
                </a:solidFill>
                <a:latin typeface="Barlow Medium"/>
                <a:ea typeface="Barlow Medium"/>
                <a:cs typeface="Barlow Medium"/>
                <a:sym typeface="Barlow Medium"/>
              </a:rPr>
              <a:t>GNN-Based Classification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272140" y="5634933"/>
            <a:ext cx="8031509" cy="506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187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Graph Neural Networks identify mule patterns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84352" y="6532216"/>
            <a:ext cx="281140" cy="427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187">
                <a:solidFill>
                  <a:srgbClr val="E5E0DF"/>
                </a:solidFill>
                <a:latin typeface="Barlow Light"/>
                <a:ea typeface="Barlow Light"/>
                <a:cs typeface="Barlow Light"/>
                <a:sym typeface="Barlow Light"/>
              </a:rPr>
              <a:t>05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984352" y="7048205"/>
            <a:ext cx="8031509" cy="38100"/>
            <a:chOff x="0" y="0"/>
            <a:chExt cx="10708678" cy="50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0708640" cy="50800"/>
            </a:xfrm>
            <a:custGeom>
              <a:avLst/>
              <a:gdLst/>
              <a:ahLst/>
              <a:cxnLst/>
              <a:rect l="l" t="t" r="r" b="b"/>
              <a:pathLst>
                <a:path w="10708640" h="50800">
                  <a:moveTo>
                    <a:pt x="0" y="0"/>
                  </a:moveTo>
                  <a:lnTo>
                    <a:pt x="10708640" y="0"/>
                  </a:lnTo>
                  <a:lnTo>
                    <a:pt x="1070864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65F62"/>
            </a:solidFill>
          </p:spPr>
        </p:sp>
      </p:grpSp>
      <p:sp>
        <p:nvSpPr>
          <p:cNvPr id="30" name="TextBox 30"/>
          <p:cNvSpPr txBox="1"/>
          <p:nvPr/>
        </p:nvSpPr>
        <p:spPr>
          <a:xfrm>
            <a:off x="984352" y="7245848"/>
            <a:ext cx="3144593" cy="409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 b="1">
                <a:solidFill>
                  <a:srgbClr val="E5E0DF"/>
                </a:solidFill>
                <a:latin typeface="Barlow Medium"/>
                <a:ea typeface="Barlow Medium"/>
                <a:cs typeface="Barlow Medium"/>
                <a:sym typeface="Barlow Medium"/>
              </a:rPr>
              <a:t>Real-Time Risk Scoring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84352" y="7733109"/>
            <a:ext cx="8031509" cy="506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187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Immediate risk assessment with explainable scores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272140" y="6532216"/>
            <a:ext cx="281140" cy="427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187">
                <a:solidFill>
                  <a:srgbClr val="E5E0DF"/>
                </a:solidFill>
                <a:latin typeface="Barlow Light"/>
                <a:ea typeface="Barlow Light"/>
                <a:cs typeface="Barlow Light"/>
                <a:sym typeface="Barlow Light"/>
              </a:rPr>
              <a:t>06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9272140" y="7048205"/>
            <a:ext cx="8031509" cy="38100"/>
            <a:chOff x="0" y="0"/>
            <a:chExt cx="10708678" cy="508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0708640" cy="50800"/>
            </a:xfrm>
            <a:custGeom>
              <a:avLst/>
              <a:gdLst/>
              <a:ahLst/>
              <a:cxnLst/>
              <a:rect l="l" t="t" r="r" b="b"/>
              <a:pathLst>
                <a:path w="10708640" h="50800">
                  <a:moveTo>
                    <a:pt x="0" y="0"/>
                  </a:moveTo>
                  <a:lnTo>
                    <a:pt x="10708640" y="0"/>
                  </a:lnTo>
                  <a:lnTo>
                    <a:pt x="1070864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65F62"/>
            </a:solidFill>
          </p:spPr>
        </p:sp>
      </p:grpSp>
      <p:sp>
        <p:nvSpPr>
          <p:cNvPr id="35" name="TextBox 35"/>
          <p:cNvSpPr txBox="1"/>
          <p:nvPr/>
        </p:nvSpPr>
        <p:spPr>
          <a:xfrm>
            <a:off x="9272140" y="7245848"/>
            <a:ext cx="3125095" cy="409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 b="1">
                <a:solidFill>
                  <a:srgbClr val="E5E0DF"/>
                </a:solidFill>
                <a:latin typeface="Barlow Medium"/>
                <a:ea typeface="Barlow Medium"/>
                <a:cs typeface="Barlow Medium"/>
                <a:sym typeface="Barlow Medium"/>
              </a:rPr>
              <a:t>Compliance Reporting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272140" y="7733109"/>
            <a:ext cx="8031509" cy="506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187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Regulator-ready documentation and audit trails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84352" y="8662397"/>
            <a:ext cx="16319297" cy="506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187" b="1">
                <a:solidFill>
                  <a:srgbClr val="E5E0DF"/>
                </a:solidFill>
                <a:latin typeface="Barlow Bold"/>
                <a:ea typeface="Barlow Bold"/>
                <a:cs typeface="Barlow Bold"/>
                <a:sym typeface="Barlow Bold"/>
              </a:rPr>
              <a:t>Goal:</a:t>
            </a:r>
            <a:r>
              <a:rPr lang="en-US" sz="2187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Detect and block mule rings in near real-time before funds exit the system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91718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379039" y="665712"/>
            <a:ext cx="5626741" cy="741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4375" b="1">
                <a:solidFill>
                  <a:srgbClr val="FFFFFF"/>
                </a:solidFill>
                <a:latin typeface="Barlow Medium"/>
                <a:ea typeface="Barlow Medium"/>
                <a:cs typeface="Barlow Medium"/>
                <a:sym typeface="Barlow Medium"/>
              </a:rPr>
              <a:t>System Architecture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2440781" y="1822552"/>
            <a:ext cx="13406285" cy="6789687"/>
            <a:chOff x="0" y="0"/>
            <a:chExt cx="17875047" cy="9052916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17874996" cy="9052941"/>
            </a:xfrm>
            <a:custGeom>
              <a:avLst/>
              <a:gdLst/>
              <a:ahLst/>
              <a:cxnLst/>
              <a:rect l="l" t="t" r="r" b="b"/>
              <a:pathLst>
                <a:path w="17874996" h="9052941">
                  <a:moveTo>
                    <a:pt x="0" y="0"/>
                  </a:moveTo>
                  <a:lnTo>
                    <a:pt x="17874996" y="0"/>
                  </a:lnTo>
                  <a:lnTo>
                    <a:pt x="17874996" y="9052941"/>
                  </a:lnTo>
                  <a:lnTo>
                    <a:pt x="0" y="9052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9" b="-28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3441125" y="4912785"/>
            <a:ext cx="2158575" cy="397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37" b="1">
                <a:solidFill>
                  <a:srgbClr val="E5E0DF"/>
                </a:solidFill>
                <a:latin typeface="Barlow Medium"/>
                <a:ea typeface="Barlow Medium"/>
                <a:cs typeface="Barlow Medium"/>
                <a:sym typeface="Barlow Medium"/>
              </a:rPr>
              <a:t>Source Logs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441125" y="5434775"/>
            <a:ext cx="2158575" cy="635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lang="en-US" sz="2187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App, Web, ATM, UPI logs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910291" y="5254428"/>
            <a:ext cx="2158575" cy="397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37" b="1">
                <a:solidFill>
                  <a:srgbClr val="E5E0DF"/>
                </a:solidFill>
                <a:latin typeface="Barlow Medium"/>
                <a:ea typeface="Barlow Medium"/>
                <a:cs typeface="Barlow Medium"/>
                <a:sym typeface="Barlow Medium"/>
              </a:rPr>
              <a:t>Ingestion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910291" y="5776417"/>
            <a:ext cx="2158575" cy="635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lang="en-US" sz="2187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Data ingestion &amp; normalization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332861" y="5673719"/>
            <a:ext cx="2158575" cy="397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37" b="1">
                <a:solidFill>
                  <a:srgbClr val="E5E0DF"/>
                </a:solidFill>
                <a:latin typeface="Barlow Medium"/>
                <a:ea typeface="Barlow Medium"/>
                <a:cs typeface="Barlow Medium"/>
                <a:sym typeface="Barlow Medium"/>
              </a:rPr>
              <a:t>Entity Graph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332861" y="6195708"/>
            <a:ext cx="2158575" cy="953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lang="en-US" sz="2187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Accounts, Devices, IPs, ATMs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615679" y="6108535"/>
            <a:ext cx="2158575" cy="397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37" b="1">
                <a:solidFill>
                  <a:srgbClr val="E5E0DF"/>
                </a:solidFill>
                <a:latin typeface="Barlow Medium"/>
                <a:ea typeface="Barlow Medium"/>
                <a:cs typeface="Barlow Medium"/>
                <a:sym typeface="Barlow Medium"/>
              </a:rPr>
              <a:t>Feature Layer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615679" y="6630533"/>
            <a:ext cx="2158575" cy="953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lang="en-US" sz="2187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Feature engineering &amp; aggregation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914014" y="6527825"/>
            <a:ext cx="2158575" cy="397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37" b="1">
                <a:solidFill>
                  <a:srgbClr val="E5E0DF"/>
                </a:solidFill>
                <a:latin typeface="Barlow Medium"/>
                <a:ea typeface="Barlow Medium"/>
                <a:cs typeface="Barlow Medium"/>
                <a:sym typeface="Barlow Medium"/>
              </a:rPr>
              <a:t>GNN &amp; Scoring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914014" y="7049824"/>
            <a:ext cx="2158575" cy="953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lang="en-US" sz="2187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GNN to risk scoring &amp; reporting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79039" y="8788746"/>
            <a:ext cx="15529770" cy="794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37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The architecture processes transactions through multiple layers, from raw log ingestion through graph construction, feature engineering, and neural network analysis to generate real-time risk scores and compliance reports.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91718">
                <a:alpha val="90196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897284" y="1081087"/>
            <a:ext cx="6577460" cy="740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 b="1">
                <a:solidFill>
                  <a:srgbClr val="FFFFFF"/>
                </a:solidFill>
                <a:latin typeface="Barlow Medium"/>
                <a:ea typeface="Barlow Medium"/>
                <a:cs typeface="Barlow Medium"/>
                <a:sym typeface="Barlow Medium"/>
              </a:rPr>
              <a:t>Unified Entity Graph Model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97284" y="2335111"/>
            <a:ext cx="3418437" cy="446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87" b="1">
                <a:solidFill>
                  <a:srgbClr val="FFFFFF"/>
                </a:solidFill>
                <a:latin typeface="Barlow Medium"/>
                <a:ea typeface="Barlow Medium"/>
                <a:cs typeface="Barlow Medium"/>
                <a:sym typeface="Barlow Medium"/>
              </a:rPr>
              <a:t>Nodes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7284" y="2927747"/>
            <a:ext cx="4505030" cy="2241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1625" lvl="1" indent="-150812" algn="l">
              <a:lnSpc>
                <a:spcPts val="2937"/>
              </a:lnSpc>
              <a:buFont typeface="Arial"/>
              <a:buChar char="•"/>
            </a:pPr>
            <a:r>
              <a:rPr lang="en-US" sz="2000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Bank Accounts</a:t>
            </a:r>
          </a:p>
          <a:p>
            <a:pPr marL="301625" lvl="1" indent="-150812" algn="l">
              <a:lnSpc>
                <a:spcPts val="2937"/>
              </a:lnSpc>
              <a:buFont typeface="Arial"/>
              <a:buChar char="•"/>
            </a:pPr>
            <a:r>
              <a:rPr lang="en-US" sz="2000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Wallets</a:t>
            </a:r>
          </a:p>
          <a:p>
            <a:pPr marL="301625" lvl="1" indent="-150812" algn="l">
              <a:lnSpc>
                <a:spcPts val="2937"/>
              </a:lnSpc>
              <a:buFont typeface="Arial"/>
              <a:buChar char="•"/>
            </a:pPr>
            <a:r>
              <a:rPr lang="en-US" sz="2000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Devices</a:t>
            </a:r>
          </a:p>
          <a:p>
            <a:pPr marL="301625" lvl="1" indent="-150812" algn="l">
              <a:lnSpc>
                <a:spcPts val="2937"/>
              </a:lnSpc>
              <a:buFont typeface="Arial"/>
              <a:buChar char="•"/>
            </a:pPr>
            <a:r>
              <a:rPr lang="en-US" sz="2000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IP Addresses</a:t>
            </a:r>
          </a:p>
          <a:p>
            <a:pPr marL="301625" lvl="1" indent="-150812" algn="l">
              <a:lnSpc>
                <a:spcPts val="2937"/>
              </a:lnSpc>
              <a:buFont typeface="Arial"/>
              <a:buChar char="•"/>
            </a:pPr>
            <a:r>
              <a:rPr lang="en-US" sz="2000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ATMs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037212" y="2335111"/>
            <a:ext cx="3418437" cy="446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87" b="1">
                <a:solidFill>
                  <a:srgbClr val="FFFFFF"/>
                </a:solidFill>
                <a:latin typeface="Barlow Medium"/>
                <a:ea typeface="Barlow Medium"/>
                <a:cs typeface="Barlow Medium"/>
                <a:sym typeface="Barlow Medium"/>
              </a:rPr>
              <a:t>Edges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037212" y="2927747"/>
            <a:ext cx="4505030" cy="1791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1625" lvl="1" indent="-150812" algn="l">
              <a:lnSpc>
                <a:spcPts val="2937"/>
              </a:lnSpc>
              <a:buFont typeface="Arial"/>
              <a:buChar char="•"/>
            </a:pPr>
            <a:r>
              <a:rPr lang="en-US" sz="2000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Transaction</a:t>
            </a:r>
          </a:p>
          <a:p>
            <a:pPr marL="301625" lvl="1" indent="-150812" algn="l">
              <a:lnSpc>
                <a:spcPts val="2937"/>
              </a:lnSpc>
              <a:buFont typeface="Arial"/>
              <a:buChar char="•"/>
            </a:pPr>
            <a:r>
              <a:rPr lang="en-US" sz="2000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Login Event</a:t>
            </a:r>
          </a:p>
          <a:p>
            <a:pPr marL="301625" lvl="1" indent="-150812" algn="l">
              <a:lnSpc>
                <a:spcPts val="2937"/>
              </a:lnSpc>
              <a:buFont typeface="Arial"/>
              <a:buChar char="•"/>
            </a:pPr>
            <a:r>
              <a:rPr lang="en-US" sz="2000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Device Usage</a:t>
            </a:r>
          </a:p>
          <a:p>
            <a:pPr marL="301625" lvl="1" indent="-150812" algn="l">
              <a:lnSpc>
                <a:spcPts val="2937"/>
              </a:lnSpc>
              <a:buFont typeface="Arial"/>
              <a:buChar char="•"/>
            </a:pPr>
            <a:r>
              <a:rPr lang="en-US" sz="2000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Withdrawal Event</a:t>
            </a:r>
          </a:p>
        </p:txBody>
      </p:sp>
      <p:sp>
        <p:nvSpPr>
          <p:cNvPr id="13" name="Freeform 13" descr="preencoded.png"/>
          <p:cNvSpPr/>
          <p:nvPr/>
        </p:nvSpPr>
        <p:spPr>
          <a:xfrm>
            <a:off x="897284" y="5483571"/>
            <a:ext cx="512712" cy="512712"/>
          </a:xfrm>
          <a:custGeom>
            <a:avLst/>
            <a:gdLst/>
            <a:ahLst/>
            <a:cxnLst/>
            <a:rect l="l" t="t" r="r" b="b"/>
            <a:pathLst>
              <a:path w="512712" h="512712">
                <a:moveTo>
                  <a:pt x="0" y="0"/>
                </a:moveTo>
                <a:lnTo>
                  <a:pt x="512711" y="0"/>
                </a:lnTo>
                <a:lnTo>
                  <a:pt x="512711" y="512712"/>
                </a:lnTo>
                <a:lnTo>
                  <a:pt x="0" y="5127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11111" b="-11111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676105" y="5552627"/>
            <a:ext cx="3053505" cy="375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 b="1">
                <a:solidFill>
                  <a:srgbClr val="E5E0DF"/>
                </a:solidFill>
                <a:latin typeface="Barlow Medium"/>
                <a:ea typeface="Barlow Medium"/>
                <a:cs typeface="Barlow Medium"/>
                <a:sym typeface="Barlow Medium"/>
              </a:rPr>
              <a:t>Shared Device Detection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76105" y="5988691"/>
            <a:ext cx="8856612" cy="442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000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Identifies accounts controlled by same device</a:t>
            </a:r>
          </a:p>
        </p:txBody>
      </p:sp>
      <p:sp>
        <p:nvSpPr>
          <p:cNvPr id="16" name="Freeform 16" descr="preencoded.png"/>
          <p:cNvSpPr/>
          <p:nvPr/>
        </p:nvSpPr>
        <p:spPr>
          <a:xfrm>
            <a:off x="897284" y="6856809"/>
            <a:ext cx="512712" cy="512712"/>
          </a:xfrm>
          <a:custGeom>
            <a:avLst/>
            <a:gdLst/>
            <a:ahLst/>
            <a:cxnLst/>
            <a:rect l="l" t="t" r="r" b="b"/>
            <a:pathLst>
              <a:path w="512712" h="512712">
                <a:moveTo>
                  <a:pt x="0" y="0"/>
                </a:moveTo>
                <a:lnTo>
                  <a:pt x="512711" y="0"/>
                </a:lnTo>
                <a:lnTo>
                  <a:pt x="512711" y="512712"/>
                </a:lnTo>
                <a:lnTo>
                  <a:pt x="0" y="5127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3704" r="-3702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676105" y="6925866"/>
            <a:ext cx="2848566" cy="375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 b="1">
                <a:solidFill>
                  <a:srgbClr val="E5E0DF"/>
                </a:solidFill>
                <a:latin typeface="Barlow Medium"/>
                <a:ea typeface="Barlow Medium"/>
                <a:cs typeface="Barlow Medium"/>
                <a:sym typeface="Barlow Medium"/>
              </a:rPr>
              <a:t>Velocity Analysis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676105" y="7361930"/>
            <a:ext cx="8856612" cy="442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000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Multi-hop transfers flagged in real-time</a:t>
            </a:r>
          </a:p>
        </p:txBody>
      </p:sp>
      <p:sp>
        <p:nvSpPr>
          <p:cNvPr id="19" name="Freeform 19" descr="preencoded.png"/>
          <p:cNvSpPr/>
          <p:nvPr/>
        </p:nvSpPr>
        <p:spPr>
          <a:xfrm>
            <a:off x="897284" y="8230048"/>
            <a:ext cx="512712" cy="512712"/>
          </a:xfrm>
          <a:custGeom>
            <a:avLst/>
            <a:gdLst/>
            <a:ahLst/>
            <a:cxnLst/>
            <a:rect l="l" t="t" r="r" b="b"/>
            <a:pathLst>
              <a:path w="512712" h="512712">
                <a:moveTo>
                  <a:pt x="0" y="0"/>
                </a:moveTo>
                <a:lnTo>
                  <a:pt x="512711" y="0"/>
                </a:lnTo>
                <a:lnTo>
                  <a:pt x="512711" y="512711"/>
                </a:lnTo>
                <a:lnTo>
                  <a:pt x="0" y="5127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925" r="-927"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676105" y="8299104"/>
            <a:ext cx="2848566" cy="375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 b="1">
                <a:solidFill>
                  <a:srgbClr val="E5E0DF"/>
                </a:solidFill>
                <a:latin typeface="Barlow Medium"/>
                <a:ea typeface="Barlow Medium"/>
                <a:cs typeface="Barlow Medium"/>
                <a:sym typeface="Barlow Medium"/>
              </a:rPr>
              <a:t>Cluster Identification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676105" y="8735168"/>
            <a:ext cx="8856612" cy="442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000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Suspicious account groups automatically detected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91718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029595" y="901151"/>
            <a:ext cx="10598353" cy="836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74"/>
              </a:lnSpc>
            </a:pPr>
            <a:r>
              <a:rPr lang="en-US" sz="5125" b="1">
                <a:solidFill>
                  <a:srgbClr val="FFFFFF"/>
                </a:solidFill>
                <a:latin typeface="Barlow Medium"/>
                <a:ea typeface="Barlow Medium"/>
                <a:cs typeface="Barlow Medium"/>
                <a:sym typeface="Barlow Medium"/>
              </a:rPr>
              <a:t>GNN-Based Fraud Detection Strategy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9595" y="2221859"/>
            <a:ext cx="16228809" cy="535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312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We apply </a:t>
            </a:r>
            <a:r>
              <a:rPr lang="en-US" sz="2312" b="1">
                <a:solidFill>
                  <a:srgbClr val="E5E0DF"/>
                </a:solidFill>
                <a:latin typeface="Barlow Bold"/>
                <a:ea typeface="Barlow Bold"/>
                <a:cs typeface="Barlow Bold"/>
                <a:sym typeface="Barlow Bold"/>
              </a:rPr>
              <a:t>Graph Neural Networks (GNN)</a:t>
            </a:r>
            <a:r>
              <a:rPr lang="en-US" sz="2312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to perform: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29595" y="3229423"/>
            <a:ext cx="147047" cy="147047"/>
            <a:chOff x="0" y="0"/>
            <a:chExt cx="196063" cy="19606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6088" cy="196088"/>
            </a:xfrm>
            <a:custGeom>
              <a:avLst/>
              <a:gdLst/>
              <a:ahLst/>
              <a:cxnLst/>
              <a:rect l="l" t="t" r="r" b="b"/>
              <a:pathLst>
                <a:path w="196088" h="196088">
                  <a:moveTo>
                    <a:pt x="0" y="98044"/>
                  </a:moveTo>
                  <a:cubicBezTo>
                    <a:pt x="0" y="43942"/>
                    <a:pt x="43942" y="0"/>
                    <a:pt x="98044" y="0"/>
                  </a:cubicBezTo>
                  <a:cubicBezTo>
                    <a:pt x="152146" y="0"/>
                    <a:pt x="196088" y="43942"/>
                    <a:pt x="196088" y="98044"/>
                  </a:cubicBezTo>
                  <a:cubicBezTo>
                    <a:pt x="196088" y="152146"/>
                    <a:pt x="152146" y="196088"/>
                    <a:pt x="98044" y="196088"/>
                  </a:cubicBezTo>
                  <a:cubicBezTo>
                    <a:pt x="43942" y="196088"/>
                    <a:pt x="0" y="152146"/>
                    <a:pt x="0" y="98044"/>
                  </a:cubicBezTo>
                  <a:close/>
                </a:path>
              </a:pathLst>
            </a:custGeom>
            <a:solidFill>
              <a:srgbClr val="F65F62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1457030" y="3063631"/>
            <a:ext cx="3268561" cy="418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1">
                <a:solidFill>
                  <a:srgbClr val="E5E0DF"/>
                </a:solidFill>
                <a:latin typeface="Barlow Medium"/>
                <a:ea typeface="Barlow Medium"/>
                <a:cs typeface="Barlow Medium"/>
                <a:sym typeface="Barlow Medium"/>
              </a:rPr>
              <a:t>Node Classification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57030" y="3573666"/>
            <a:ext cx="4748508" cy="995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312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Normal / Suspicious / Mule account labeling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556029" y="3229423"/>
            <a:ext cx="147047" cy="147047"/>
            <a:chOff x="0" y="0"/>
            <a:chExt cx="196063" cy="19606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96088" cy="196088"/>
            </a:xfrm>
            <a:custGeom>
              <a:avLst/>
              <a:gdLst/>
              <a:ahLst/>
              <a:cxnLst/>
              <a:rect l="l" t="t" r="r" b="b"/>
              <a:pathLst>
                <a:path w="196088" h="196088">
                  <a:moveTo>
                    <a:pt x="0" y="98044"/>
                  </a:moveTo>
                  <a:cubicBezTo>
                    <a:pt x="0" y="43942"/>
                    <a:pt x="43942" y="0"/>
                    <a:pt x="98044" y="0"/>
                  </a:cubicBezTo>
                  <a:cubicBezTo>
                    <a:pt x="152146" y="0"/>
                    <a:pt x="196088" y="43942"/>
                    <a:pt x="196088" y="98044"/>
                  </a:cubicBezTo>
                  <a:cubicBezTo>
                    <a:pt x="196088" y="152146"/>
                    <a:pt x="152146" y="196088"/>
                    <a:pt x="98044" y="196088"/>
                  </a:cubicBezTo>
                  <a:cubicBezTo>
                    <a:pt x="43942" y="196088"/>
                    <a:pt x="0" y="152146"/>
                    <a:pt x="0" y="98044"/>
                  </a:cubicBezTo>
                  <a:close/>
                </a:path>
              </a:pathLst>
            </a:custGeom>
            <a:solidFill>
              <a:srgbClr val="F65F62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6983463" y="3063631"/>
            <a:ext cx="4273306" cy="418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1">
                <a:solidFill>
                  <a:srgbClr val="E5E0DF"/>
                </a:solidFill>
                <a:latin typeface="Barlow Medium"/>
                <a:ea typeface="Barlow Medium"/>
                <a:cs typeface="Barlow Medium"/>
                <a:sym typeface="Barlow Medium"/>
              </a:rPr>
              <a:t>Relationship Strength Scoring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983463" y="3573666"/>
            <a:ext cx="4748508" cy="995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312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Quantifies connection risks between entities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2082462" y="3229423"/>
            <a:ext cx="147047" cy="147047"/>
            <a:chOff x="0" y="0"/>
            <a:chExt cx="196063" cy="19606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96088" cy="196088"/>
            </a:xfrm>
            <a:custGeom>
              <a:avLst/>
              <a:gdLst/>
              <a:ahLst/>
              <a:cxnLst/>
              <a:rect l="l" t="t" r="r" b="b"/>
              <a:pathLst>
                <a:path w="196088" h="196088">
                  <a:moveTo>
                    <a:pt x="0" y="98044"/>
                  </a:moveTo>
                  <a:cubicBezTo>
                    <a:pt x="0" y="43942"/>
                    <a:pt x="43942" y="0"/>
                    <a:pt x="98044" y="0"/>
                  </a:cubicBezTo>
                  <a:cubicBezTo>
                    <a:pt x="152146" y="0"/>
                    <a:pt x="196088" y="43942"/>
                    <a:pt x="196088" y="98044"/>
                  </a:cubicBezTo>
                  <a:cubicBezTo>
                    <a:pt x="196088" y="152146"/>
                    <a:pt x="152146" y="196088"/>
                    <a:pt x="98044" y="196088"/>
                  </a:cubicBezTo>
                  <a:cubicBezTo>
                    <a:pt x="43942" y="196088"/>
                    <a:pt x="0" y="152146"/>
                    <a:pt x="0" y="98044"/>
                  </a:cubicBezTo>
                  <a:close/>
                </a:path>
              </a:pathLst>
            </a:custGeom>
            <a:solidFill>
              <a:srgbClr val="F65F62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12509897" y="3063631"/>
            <a:ext cx="3268561" cy="418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1">
                <a:solidFill>
                  <a:srgbClr val="E5E0DF"/>
                </a:solidFill>
                <a:latin typeface="Barlow Medium"/>
                <a:ea typeface="Barlow Medium"/>
                <a:cs typeface="Barlow Medium"/>
                <a:sym typeface="Barlow Medium"/>
              </a:rPr>
              <a:t>Cluster Risk Evaluation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509897" y="3573666"/>
            <a:ext cx="4748508" cy="995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312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Network-level fraud pattern detection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9595" y="4970859"/>
            <a:ext cx="3922214" cy="509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2"/>
              </a:lnSpc>
            </a:pPr>
            <a:r>
              <a:rPr lang="en-US" sz="3062" b="1">
                <a:solidFill>
                  <a:srgbClr val="FFFFFF"/>
                </a:solidFill>
                <a:latin typeface="Barlow Medium"/>
                <a:ea typeface="Barlow Medium"/>
                <a:cs typeface="Barlow Medium"/>
                <a:sym typeface="Barlow Medium"/>
              </a:rPr>
              <a:t>Extracted Features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39120" y="5824385"/>
            <a:ext cx="16228809" cy="2767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8754" lvl="1" indent="-174377" algn="l">
              <a:lnSpc>
                <a:spcPts val="3562"/>
              </a:lnSpc>
              <a:buFont typeface="Arial"/>
              <a:buChar char="•"/>
            </a:pPr>
            <a:r>
              <a:rPr lang="en-US" sz="2312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Transaction velocity</a:t>
            </a:r>
          </a:p>
          <a:p>
            <a:pPr marL="348754" lvl="1" indent="-174377" algn="l">
              <a:lnSpc>
                <a:spcPts val="3562"/>
              </a:lnSpc>
              <a:buFont typeface="Arial"/>
              <a:buChar char="•"/>
            </a:pPr>
            <a:r>
              <a:rPr lang="en-US" sz="2312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Degree centrality</a:t>
            </a:r>
          </a:p>
          <a:p>
            <a:pPr marL="348754" lvl="1" indent="-174377" algn="l">
              <a:lnSpc>
                <a:spcPts val="3562"/>
              </a:lnSpc>
              <a:buFont typeface="Arial"/>
              <a:buChar char="•"/>
            </a:pPr>
            <a:r>
              <a:rPr lang="en-US" sz="2312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Shared device count</a:t>
            </a:r>
          </a:p>
          <a:p>
            <a:pPr marL="348754" lvl="1" indent="-174377" algn="l">
              <a:lnSpc>
                <a:spcPts val="3562"/>
              </a:lnSpc>
              <a:buFont typeface="Arial"/>
              <a:buChar char="•"/>
            </a:pPr>
            <a:r>
              <a:rPr lang="en-US" sz="2312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Multi-hop transfer frequency</a:t>
            </a:r>
          </a:p>
          <a:p>
            <a:pPr marL="348754" lvl="1" indent="-174377" algn="l">
              <a:lnSpc>
                <a:spcPts val="3562"/>
              </a:lnSpc>
              <a:buFont typeface="Arial"/>
              <a:buChar char="•"/>
            </a:pPr>
            <a:r>
              <a:rPr lang="en-US" sz="2312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Jurisdiction-based risk weighting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29595" y="8830713"/>
            <a:ext cx="16228809" cy="535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312" b="1">
                <a:solidFill>
                  <a:srgbClr val="E5E0DF"/>
                </a:solidFill>
                <a:latin typeface="Barlow Bold"/>
                <a:ea typeface="Barlow Bold"/>
                <a:cs typeface="Barlow Bold"/>
                <a:sym typeface="Barlow Bold"/>
              </a:rPr>
              <a:t>Output:</a:t>
            </a:r>
            <a:r>
              <a:rPr lang="en-US" sz="2312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Risk Score (0–100) + Confidence Percentage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91718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930746" y="1147315"/>
            <a:ext cx="6390481" cy="644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25"/>
              </a:lnSpc>
            </a:pPr>
            <a:r>
              <a:rPr lang="en-US" sz="4062" b="1">
                <a:solidFill>
                  <a:srgbClr val="FFFFFF"/>
                </a:solidFill>
                <a:latin typeface="Barlow Medium"/>
                <a:ea typeface="Barlow Medium"/>
                <a:cs typeface="Barlow Medium"/>
                <a:sym typeface="Barlow Medium"/>
              </a:rPr>
              <a:t>Risk Scoring &amp; Explainability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916459" y="2173491"/>
            <a:ext cx="7152084" cy="1321594"/>
            <a:chOff x="0" y="0"/>
            <a:chExt cx="9536112" cy="1762125"/>
          </a:xfrm>
        </p:grpSpPr>
        <p:sp>
          <p:nvSpPr>
            <p:cNvPr id="8" name="Freeform 8"/>
            <p:cNvSpPr/>
            <p:nvPr/>
          </p:nvSpPr>
          <p:spPr>
            <a:xfrm>
              <a:off x="19050" y="19050"/>
              <a:ext cx="9498076" cy="1724025"/>
            </a:xfrm>
            <a:custGeom>
              <a:avLst/>
              <a:gdLst/>
              <a:ahLst/>
              <a:cxnLst/>
              <a:rect l="l" t="t" r="r" b="b"/>
              <a:pathLst>
                <a:path w="9498076" h="1724025">
                  <a:moveTo>
                    <a:pt x="0" y="131699"/>
                  </a:moveTo>
                  <a:cubicBezTo>
                    <a:pt x="0" y="58928"/>
                    <a:pt x="60071" y="0"/>
                    <a:pt x="134112" y="0"/>
                  </a:cubicBezTo>
                  <a:lnTo>
                    <a:pt x="9363964" y="0"/>
                  </a:lnTo>
                  <a:cubicBezTo>
                    <a:pt x="9438005" y="0"/>
                    <a:pt x="9498076" y="58928"/>
                    <a:pt x="9498076" y="131699"/>
                  </a:cubicBezTo>
                  <a:lnTo>
                    <a:pt x="9498076" y="1592326"/>
                  </a:lnTo>
                  <a:cubicBezTo>
                    <a:pt x="9498076" y="1665097"/>
                    <a:pt x="9438005" y="1724025"/>
                    <a:pt x="9363964" y="1724025"/>
                  </a:cubicBezTo>
                  <a:lnTo>
                    <a:pt x="134112" y="1724025"/>
                  </a:lnTo>
                  <a:cubicBezTo>
                    <a:pt x="60071" y="1724025"/>
                    <a:pt x="0" y="1665097"/>
                    <a:pt x="0" y="1592326"/>
                  </a:cubicBezTo>
                  <a:close/>
                </a:path>
              </a:pathLst>
            </a:custGeom>
            <a:solidFill>
              <a:srgbClr val="191718">
                <a:alpha val="90196"/>
              </a:srgbClr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9536176" cy="1762125"/>
            </a:xfrm>
            <a:custGeom>
              <a:avLst/>
              <a:gdLst/>
              <a:ahLst/>
              <a:cxnLst/>
              <a:rect l="l" t="t" r="r" b="b"/>
              <a:pathLst>
                <a:path w="9536176" h="1762125">
                  <a:moveTo>
                    <a:pt x="0" y="150749"/>
                  </a:moveTo>
                  <a:cubicBezTo>
                    <a:pt x="0" y="67183"/>
                    <a:pt x="68834" y="0"/>
                    <a:pt x="153162" y="0"/>
                  </a:cubicBezTo>
                  <a:lnTo>
                    <a:pt x="9383014" y="0"/>
                  </a:lnTo>
                  <a:lnTo>
                    <a:pt x="9383014" y="19050"/>
                  </a:lnTo>
                  <a:lnTo>
                    <a:pt x="9383014" y="0"/>
                  </a:lnTo>
                  <a:cubicBezTo>
                    <a:pt x="9467215" y="0"/>
                    <a:pt x="9536176" y="67183"/>
                    <a:pt x="9536176" y="150749"/>
                  </a:cubicBezTo>
                  <a:lnTo>
                    <a:pt x="9517126" y="150749"/>
                  </a:lnTo>
                  <a:lnTo>
                    <a:pt x="9536176" y="150749"/>
                  </a:lnTo>
                  <a:lnTo>
                    <a:pt x="9536176" y="1611376"/>
                  </a:lnTo>
                  <a:lnTo>
                    <a:pt x="9517126" y="1611376"/>
                  </a:lnTo>
                  <a:lnTo>
                    <a:pt x="9536176" y="1611376"/>
                  </a:lnTo>
                  <a:cubicBezTo>
                    <a:pt x="9536176" y="1694942"/>
                    <a:pt x="9467342" y="1762125"/>
                    <a:pt x="9383014" y="1762125"/>
                  </a:cubicBezTo>
                  <a:lnTo>
                    <a:pt x="9383014" y="1743075"/>
                  </a:lnTo>
                  <a:lnTo>
                    <a:pt x="9383014" y="1762125"/>
                  </a:lnTo>
                  <a:lnTo>
                    <a:pt x="153162" y="1762125"/>
                  </a:lnTo>
                  <a:lnTo>
                    <a:pt x="153162" y="1743075"/>
                  </a:lnTo>
                  <a:lnTo>
                    <a:pt x="153162" y="1762125"/>
                  </a:lnTo>
                  <a:cubicBezTo>
                    <a:pt x="68834" y="1762125"/>
                    <a:pt x="0" y="1694942"/>
                    <a:pt x="0" y="1611376"/>
                  </a:cubicBezTo>
                  <a:lnTo>
                    <a:pt x="0" y="150749"/>
                  </a:lnTo>
                  <a:lnTo>
                    <a:pt x="19050" y="150749"/>
                  </a:lnTo>
                  <a:lnTo>
                    <a:pt x="0" y="150749"/>
                  </a:lnTo>
                  <a:moveTo>
                    <a:pt x="38100" y="150749"/>
                  </a:moveTo>
                  <a:lnTo>
                    <a:pt x="38100" y="1611376"/>
                  </a:lnTo>
                  <a:lnTo>
                    <a:pt x="19050" y="1611376"/>
                  </a:lnTo>
                  <a:lnTo>
                    <a:pt x="38100" y="1611376"/>
                  </a:lnTo>
                  <a:cubicBezTo>
                    <a:pt x="38100" y="1673225"/>
                    <a:pt x="89281" y="1724025"/>
                    <a:pt x="153162" y="1724025"/>
                  </a:cubicBezTo>
                  <a:lnTo>
                    <a:pt x="9383014" y="1724025"/>
                  </a:lnTo>
                  <a:cubicBezTo>
                    <a:pt x="9446895" y="1724025"/>
                    <a:pt x="9498076" y="1673225"/>
                    <a:pt x="9498076" y="1611376"/>
                  </a:cubicBezTo>
                  <a:lnTo>
                    <a:pt x="9498076" y="150749"/>
                  </a:lnTo>
                  <a:cubicBezTo>
                    <a:pt x="9497949" y="88900"/>
                    <a:pt x="9446768" y="38100"/>
                    <a:pt x="9383014" y="38100"/>
                  </a:cubicBezTo>
                  <a:lnTo>
                    <a:pt x="153162" y="38100"/>
                  </a:lnTo>
                  <a:lnTo>
                    <a:pt x="153162" y="19050"/>
                  </a:lnTo>
                  <a:lnTo>
                    <a:pt x="153162" y="38100"/>
                  </a:lnTo>
                  <a:cubicBezTo>
                    <a:pt x="89281" y="38100"/>
                    <a:pt x="38100" y="88900"/>
                    <a:pt x="38100" y="150749"/>
                  </a:cubicBezTo>
                  <a:close/>
                </a:path>
              </a:pathLst>
            </a:custGeom>
            <a:solidFill>
              <a:srgbClr val="922022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2194474" y="2422922"/>
            <a:ext cx="1179413" cy="331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00" b="1">
                <a:solidFill>
                  <a:srgbClr val="E5E0DF"/>
                </a:solidFill>
                <a:latin typeface="Barlow Medium"/>
                <a:ea typeface="Barlow Medium"/>
                <a:cs typeface="Barlow Medium"/>
                <a:sym typeface="Barlow Medium"/>
              </a:rPr>
              <a:t>Risk Score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194474" y="2847527"/>
            <a:ext cx="6596062" cy="369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812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0–100 scale with confidence level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219162" y="2173491"/>
            <a:ext cx="7152237" cy="1321594"/>
            <a:chOff x="0" y="0"/>
            <a:chExt cx="9536316" cy="1762125"/>
          </a:xfrm>
        </p:grpSpPr>
        <p:sp>
          <p:nvSpPr>
            <p:cNvPr id="13" name="Freeform 13"/>
            <p:cNvSpPr/>
            <p:nvPr/>
          </p:nvSpPr>
          <p:spPr>
            <a:xfrm>
              <a:off x="19050" y="19050"/>
              <a:ext cx="9498203" cy="1724025"/>
            </a:xfrm>
            <a:custGeom>
              <a:avLst/>
              <a:gdLst/>
              <a:ahLst/>
              <a:cxnLst/>
              <a:rect l="l" t="t" r="r" b="b"/>
              <a:pathLst>
                <a:path w="9498203" h="1724025">
                  <a:moveTo>
                    <a:pt x="0" y="131699"/>
                  </a:moveTo>
                  <a:cubicBezTo>
                    <a:pt x="0" y="58928"/>
                    <a:pt x="60071" y="0"/>
                    <a:pt x="134112" y="0"/>
                  </a:cubicBezTo>
                  <a:lnTo>
                    <a:pt x="9364091" y="0"/>
                  </a:lnTo>
                  <a:cubicBezTo>
                    <a:pt x="9438132" y="0"/>
                    <a:pt x="9498203" y="58928"/>
                    <a:pt x="9498203" y="131699"/>
                  </a:cubicBezTo>
                  <a:lnTo>
                    <a:pt x="9498203" y="1592326"/>
                  </a:lnTo>
                  <a:cubicBezTo>
                    <a:pt x="9498203" y="1665097"/>
                    <a:pt x="9438132" y="1724025"/>
                    <a:pt x="9364091" y="1724025"/>
                  </a:cubicBezTo>
                  <a:lnTo>
                    <a:pt x="134112" y="1724025"/>
                  </a:lnTo>
                  <a:cubicBezTo>
                    <a:pt x="60071" y="1724025"/>
                    <a:pt x="0" y="1665097"/>
                    <a:pt x="0" y="1592326"/>
                  </a:cubicBezTo>
                  <a:close/>
                </a:path>
              </a:pathLst>
            </a:custGeom>
            <a:solidFill>
              <a:srgbClr val="191718">
                <a:alpha val="90196"/>
              </a:srgbClr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0" y="0"/>
              <a:ext cx="9536303" cy="1762125"/>
            </a:xfrm>
            <a:custGeom>
              <a:avLst/>
              <a:gdLst/>
              <a:ahLst/>
              <a:cxnLst/>
              <a:rect l="l" t="t" r="r" b="b"/>
              <a:pathLst>
                <a:path w="9536303" h="1762125">
                  <a:moveTo>
                    <a:pt x="0" y="150749"/>
                  </a:moveTo>
                  <a:cubicBezTo>
                    <a:pt x="0" y="67183"/>
                    <a:pt x="68834" y="0"/>
                    <a:pt x="153162" y="0"/>
                  </a:cubicBezTo>
                  <a:lnTo>
                    <a:pt x="9383141" y="0"/>
                  </a:lnTo>
                  <a:lnTo>
                    <a:pt x="9383141" y="19050"/>
                  </a:lnTo>
                  <a:lnTo>
                    <a:pt x="9383141" y="0"/>
                  </a:lnTo>
                  <a:cubicBezTo>
                    <a:pt x="9467342" y="0"/>
                    <a:pt x="9536303" y="67183"/>
                    <a:pt x="9536303" y="150749"/>
                  </a:cubicBezTo>
                  <a:lnTo>
                    <a:pt x="9517253" y="150749"/>
                  </a:lnTo>
                  <a:lnTo>
                    <a:pt x="9536303" y="150749"/>
                  </a:lnTo>
                  <a:lnTo>
                    <a:pt x="9536303" y="1611376"/>
                  </a:lnTo>
                  <a:lnTo>
                    <a:pt x="9517253" y="1611376"/>
                  </a:lnTo>
                  <a:lnTo>
                    <a:pt x="9536303" y="1611376"/>
                  </a:lnTo>
                  <a:cubicBezTo>
                    <a:pt x="9536303" y="1694942"/>
                    <a:pt x="9467469" y="1762125"/>
                    <a:pt x="9383141" y="1762125"/>
                  </a:cubicBezTo>
                  <a:lnTo>
                    <a:pt x="9383141" y="1743075"/>
                  </a:lnTo>
                  <a:lnTo>
                    <a:pt x="9383141" y="1762125"/>
                  </a:lnTo>
                  <a:lnTo>
                    <a:pt x="153162" y="1762125"/>
                  </a:lnTo>
                  <a:lnTo>
                    <a:pt x="153162" y="1743075"/>
                  </a:lnTo>
                  <a:lnTo>
                    <a:pt x="153162" y="1762125"/>
                  </a:lnTo>
                  <a:cubicBezTo>
                    <a:pt x="68834" y="1762125"/>
                    <a:pt x="0" y="1694942"/>
                    <a:pt x="0" y="1611376"/>
                  </a:cubicBezTo>
                  <a:lnTo>
                    <a:pt x="0" y="150749"/>
                  </a:lnTo>
                  <a:lnTo>
                    <a:pt x="19050" y="150749"/>
                  </a:lnTo>
                  <a:lnTo>
                    <a:pt x="0" y="150749"/>
                  </a:lnTo>
                  <a:moveTo>
                    <a:pt x="38100" y="150749"/>
                  </a:moveTo>
                  <a:lnTo>
                    <a:pt x="38100" y="1611376"/>
                  </a:lnTo>
                  <a:lnTo>
                    <a:pt x="19050" y="1611376"/>
                  </a:lnTo>
                  <a:lnTo>
                    <a:pt x="38100" y="1611376"/>
                  </a:lnTo>
                  <a:cubicBezTo>
                    <a:pt x="38100" y="1673225"/>
                    <a:pt x="89281" y="1724025"/>
                    <a:pt x="153162" y="1724025"/>
                  </a:cubicBezTo>
                  <a:lnTo>
                    <a:pt x="9383141" y="1724025"/>
                  </a:lnTo>
                  <a:cubicBezTo>
                    <a:pt x="9447023" y="1724025"/>
                    <a:pt x="9498203" y="1673225"/>
                    <a:pt x="9498203" y="1611376"/>
                  </a:cubicBezTo>
                  <a:lnTo>
                    <a:pt x="9498203" y="150749"/>
                  </a:lnTo>
                  <a:cubicBezTo>
                    <a:pt x="9498203" y="88900"/>
                    <a:pt x="9447022" y="38100"/>
                    <a:pt x="9383141" y="38100"/>
                  </a:cubicBezTo>
                  <a:lnTo>
                    <a:pt x="153162" y="38100"/>
                  </a:lnTo>
                  <a:lnTo>
                    <a:pt x="153162" y="19050"/>
                  </a:lnTo>
                  <a:lnTo>
                    <a:pt x="153162" y="38100"/>
                  </a:lnTo>
                  <a:cubicBezTo>
                    <a:pt x="89281" y="38100"/>
                    <a:pt x="38100" y="88900"/>
                    <a:pt x="38100" y="150749"/>
                  </a:cubicBezTo>
                  <a:close/>
                </a:path>
              </a:pathLst>
            </a:custGeom>
            <a:solidFill>
              <a:srgbClr val="922022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9497168" y="2422922"/>
            <a:ext cx="2613422" cy="355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00" b="1">
                <a:solidFill>
                  <a:srgbClr val="E5E0DF"/>
                </a:solidFill>
                <a:latin typeface="Barlow Medium"/>
                <a:ea typeface="Barlow Medium"/>
                <a:cs typeface="Barlow Medium"/>
                <a:sym typeface="Barlow Medium"/>
              </a:rPr>
              <a:t>Cluster ID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97168" y="2847527"/>
            <a:ext cx="6596215" cy="369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812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Associated mule ring identifier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916459" y="3645694"/>
            <a:ext cx="7152084" cy="1321594"/>
            <a:chOff x="0" y="0"/>
            <a:chExt cx="9536112" cy="1762125"/>
          </a:xfrm>
        </p:grpSpPr>
        <p:sp>
          <p:nvSpPr>
            <p:cNvPr id="18" name="Freeform 18"/>
            <p:cNvSpPr/>
            <p:nvPr/>
          </p:nvSpPr>
          <p:spPr>
            <a:xfrm>
              <a:off x="19050" y="19050"/>
              <a:ext cx="9498076" cy="1724025"/>
            </a:xfrm>
            <a:custGeom>
              <a:avLst/>
              <a:gdLst/>
              <a:ahLst/>
              <a:cxnLst/>
              <a:rect l="l" t="t" r="r" b="b"/>
              <a:pathLst>
                <a:path w="9498076" h="1724025">
                  <a:moveTo>
                    <a:pt x="0" y="131699"/>
                  </a:moveTo>
                  <a:cubicBezTo>
                    <a:pt x="0" y="58928"/>
                    <a:pt x="60071" y="0"/>
                    <a:pt x="134112" y="0"/>
                  </a:cubicBezTo>
                  <a:lnTo>
                    <a:pt x="9363964" y="0"/>
                  </a:lnTo>
                  <a:cubicBezTo>
                    <a:pt x="9438005" y="0"/>
                    <a:pt x="9498076" y="58928"/>
                    <a:pt x="9498076" y="131699"/>
                  </a:cubicBezTo>
                  <a:lnTo>
                    <a:pt x="9498076" y="1592326"/>
                  </a:lnTo>
                  <a:cubicBezTo>
                    <a:pt x="9498076" y="1665097"/>
                    <a:pt x="9438005" y="1724025"/>
                    <a:pt x="9363964" y="1724025"/>
                  </a:cubicBezTo>
                  <a:lnTo>
                    <a:pt x="134112" y="1724025"/>
                  </a:lnTo>
                  <a:cubicBezTo>
                    <a:pt x="60071" y="1724025"/>
                    <a:pt x="0" y="1665097"/>
                    <a:pt x="0" y="1592326"/>
                  </a:cubicBezTo>
                  <a:close/>
                </a:path>
              </a:pathLst>
            </a:custGeom>
            <a:solidFill>
              <a:srgbClr val="191718">
                <a:alpha val="90196"/>
              </a:srgbClr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0"/>
              <a:ext cx="9536176" cy="1762125"/>
            </a:xfrm>
            <a:custGeom>
              <a:avLst/>
              <a:gdLst/>
              <a:ahLst/>
              <a:cxnLst/>
              <a:rect l="l" t="t" r="r" b="b"/>
              <a:pathLst>
                <a:path w="9536176" h="1762125">
                  <a:moveTo>
                    <a:pt x="0" y="150749"/>
                  </a:moveTo>
                  <a:cubicBezTo>
                    <a:pt x="0" y="67183"/>
                    <a:pt x="68834" y="0"/>
                    <a:pt x="153162" y="0"/>
                  </a:cubicBezTo>
                  <a:lnTo>
                    <a:pt x="9383014" y="0"/>
                  </a:lnTo>
                  <a:lnTo>
                    <a:pt x="9383014" y="19050"/>
                  </a:lnTo>
                  <a:lnTo>
                    <a:pt x="9383014" y="0"/>
                  </a:lnTo>
                  <a:cubicBezTo>
                    <a:pt x="9467215" y="0"/>
                    <a:pt x="9536176" y="67183"/>
                    <a:pt x="9536176" y="150749"/>
                  </a:cubicBezTo>
                  <a:lnTo>
                    <a:pt x="9517126" y="150749"/>
                  </a:lnTo>
                  <a:lnTo>
                    <a:pt x="9536176" y="150749"/>
                  </a:lnTo>
                  <a:lnTo>
                    <a:pt x="9536176" y="1611376"/>
                  </a:lnTo>
                  <a:lnTo>
                    <a:pt x="9517126" y="1611376"/>
                  </a:lnTo>
                  <a:lnTo>
                    <a:pt x="9536176" y="1611376"/>
                  </a:lnTo>
                  <a:cubicBezTo>
                    <a:pt x="9536176" y="1694942"/>
                    <a:pt x="9467342" y="1762125"/>
                    <a:pt x="9383014" y="1762125"/>
                  </a:cubicBezTo>
                  <a:lnTo>
                    <a:pt x="9383014" y="1743075"/>
                  </a:lnTo>
                  <a:lnTo>
                    <a:pt x="9383014" y="1762125"/>
                  </a:lnTo>
                  <a:lnTo>
                    <a:pt x="153162" y="1762125"/>
                  </a:lnTo>
                  <a:lnTo>
                    <a:pt x="153162" y="1743075"/>
                  </a:lnTo>
                  <a:lnTo>
                    <a:pt x="153162" y="1762125"/>
                  </a:lnTo>
                  <a:cubicBezTo>
                    <a:pt x="68834" y="1762125"/>
                    <a:pt x="0" y="1694942"/>
                    <a:pt x="0" y="1611376"/>
                  </a:cubicBezTo>
                  <a:lnTo>
                    <a:pt x="0" y="150749"/>
                  </a:lnTo>
                  <a:lnTo>
                    <a:pt x="19050" y="150749"/>
                  </a:lnTo>
                  <a:lnTo>
                    <a:pt x="0" y="150749"/>
                  </a:lnTo>
                  <a:moveTo>
                    <a:pt x="38100" y="150749"/>
                  </a:moveTo>
                  <a:lnTo>
                    <a:pt x="38100" y="1611376"/>
                  </a:lnTo>
                  <a:lnTo>
                    <a:pt x="19050" y="1611376"/>
                  </a:lnTo>
                  <a:lnTo>
                    <a:pt x="38100" y="1611376"/>
                  </a:lnTo>
                  <a:cubicBezTo>
                    <a:pt x="38100" y="1673225"/>
                    <a:pt x="89281" y="1724025"/>
                    <a:pt x="153162" y="1724025"/>
                  </a:cubicBezTo>
                  <a:lnTo>
                    <a:pt x="9383014" y="1724025"/>
                  </a:lnTo>
                  <a:cubicBezTo>
                    <a:pt x="9446895" y="1724025"/>
                    <a:pt x="9498076" y="1673225"/>
                    <a:pt x="9498076" y="1611376"/>
                  </a:cubicBezTo>
                  <a:lnTo>
                    <a:pt x="9498076" y="150749"/>
                  </a:lnTo>
                  <a:cubicBezTo>
                    <a:pt x="9497949" y="88900"/>
                    <a:pt x="9446768" y="38100"/>
                    <a:pt x="9383014" y="38100"/>
                  </a:cubicBezTo>
                  <a:lnTo>
                    <a:pt x="153162" y="38100"/>
                  </a:lnTo>
                  <a:lnTo>
                    <a:pt x="153162" y="19050"/>
                  </a:lnTo>
                  <a:lnTo>
                    <a:pt x="153162" y="38100"/>
                  </a:lnTo>
                  <a:cubicBezTo>
                    <a:pt x="89281" y="38100"/>
                    <a:pt x="38100" y="88900"/>
                    <a:pt x="38100" y="150749"/>
                  </a:cubicBezTo>
                  <a:close/>
                </a:path>
              </a:pathLst>
            </a:custGeom>
            <a:solidFill>
              <a:srgbClr val="922022"/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2194474" y="3895134"/>
            <a:ext cx="2613422" cy="355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00" b="1">
                <a:solidFill>
                  <a:srgbClr val="E5E0DF"/>
                </a:solidFill>
                <a:latin typeface="Barlow Medium"/>
                <a:ea typeface="Barlow Medium"/>
                <a:cs typeface="Barlow Medium"/>
                <a:sym typeface="Barlow Medium"/>
              </a:rPr>
              <a:t>Transaction Timeline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194474" y="4319740"/>
            <a:ext cx="6596062" cy="369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812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Complete trace visualization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9219162" y="3645694"/>
            <a:ext cx="7152237" cy="1321594"/>
            <a:chOff x="0" y="0"/>
            <a:chExt cx="9536316" cy="1762125"/>
          </a:xfrm>
        </p:grpSpPr>
        <p:sp>
          <p:nvSpPr>
            <p:cNvPr id="23" name="Freeform 23"/>
            <p:cNvSpPr/>
            <p:nvPr/>
          </p:nvSpPr>
          <p:spPr>
            <a:xfrm>
              <a:off x="19050" y="19050"/>
              <a:ext cx="9498203" cy="1724025"/>
            </a:xfrm>
            <a:custGeom>
              <a:avLst/>
              <a:gdLst/>
              <a:ahLst/>
              <a:cxnLst/>
              <a:rect l="l" t="t" r="r" b="b"/>
              <a:pathLst>
                <a:path w="9498203" h="1724025">
                  <a:moveTo>
                    <a:pt x="0" y="131699"/>
                  </a:moveTo>
                  <a:cubicBezTo>
                    <a:pt x="0" y="58928"/>
                    <a:pt x="60071" y="0"/>
                    <a:pt x="134112" y="0"/>
                  </a:cubicBezTo>
                  <a:lnTo>
                    <a:pt x="9364091" y="0"/>
                  </a:lnTo>
                  <a:cubicBezTo>
                    <a:pt x="9438132" y="0"/>
                    <a:pt x="9498203" y="58928"/>
                    <a:pt x="9498203" y="131699"/>
                  </a:cubicBezTo>
                  <a:lnTo>
                    <a:pt x="9498203" y="1592326"/>
                  </a:lnTo>
                  <a:cubicBezTo>
                    <a:pt x="9498203" y="1665097"/>
                    <a:pt x="9438132" y="1724025"/>
                    <a:pt x="9364091" y="1724025"/>
                  </a:cubicBezTo>
                  <a:lnTo>
                    <a:pt x="134112" y="1724025"/>
                  </a:lnTo>
                  <a:cubicBezTo>
                    <a:pt x="60071" y="1724025"/>
                    <a:pt x="0" y="1665097"/>
                    <a:pt x="0" y="1592326"/>
                  </a:cubicBezTo>
                  <a:close/>
                </a:path>
              </a:pathLst>
            </a:custGeom>
            <a:solidFill>
              <a:srgbClr val="191718">
                <a:alpha val="90196"/>
              </a:srgbClr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0" y="0"/>
              <a:ext cx="9536303" cy="1762125"/>
            </a:xfrm>
            <a:custGeom>
              <a:avLst/>
              <a:gdLst/>
              <a:ahLst/>
              <a:cxnLst/>
              <a:rect l="l" t="t" r="r" b="b"/>
              <a:pathLst>
                <a:path w="9536303" h="1762125">
                  <a:moveTo>
                    <a:pt x="0" y="150749"/>
                  </a:moveTo>
                  <a:cubicBezTo>
                    <a:pt x="0" y="67183"/>
                    <a:pt x="68834" y="0"/>
                    <a:pt x="153162" y="0"/>
                  </a:cubicBezTo>
                  <a:lnTo>
                    <a:pt x="9383141" y="0"/>
                  </a:lnTo>
                  <a:lnTo>
                    <a:pt x="9383141" y="19050"/>
                  </a:lnTo>
                  <a:lnTo>
                    <a:pt x="9383141" y="0"/>
                  </a:lnTo>
                  <a:cubicBezTo>
                    <a:pt x="9467342" y="0"/>
                    <a:pt x="9536303" y="67183"/>
                    <a:pt x="9536303" y="150749"/>
                  </a:cubicBezTo>
                  <a:lnTo>
                    <a:pt x="9517253" y="150749"/>
                  </a:lnTo>
                  <a:lnTo>
                    <a:pt x="9536303" y="150749"/>
                  </a:lnTo>
                  <a:lnTo>
                    <a:pt x="9536303" y="1611376"/>
                  </a:lnTo>
                  <a:lnTo>
                    <a:pt x="9517253" y="1611376"/>
                  </a:lnTo>
                  <a:lnTo>
                    <a:pt x="9536303" y="1611376"/>
                  </a:lnTo>
                  <a:cubicBezTo>
                    <a:pt x="9536303" y="1694942"/>
                    <a:pt x="9467469" y="1762125"/>
                    <a:pt x="9383141" y="1762125"/>
                  </a:cubicBezTo>
                  <a:lnTo>
                    <a:pt x="9383141" y="1743075"/>
                  </a:lnTo>
                  <a:lnTo>
                    <a:pt x="9383141" y="1762125"/>
                  </a:lnTo>
                  <a:lnTo>
                    <a:pt x="153162" y="1762125"/>
                  </a:lnTo>
                  <a:lnTo>
                    <a:pt x="153162" y="1743075"/>
                  </a:lnTo>
                  <a:lnTo>
                    <a:pt x="153162" y="1762125"/>
                  </a:lnTo>
                  <a:cubicBezTo>
                    <a:pt x="68834" y="1762125"/>
                    <a:pt x="0" y="1694942"/>
                    <a:pt x="0" y="1611376"/>
                  </a:cubicBezTo>
                  <a:lnTo>
                    <a:pt x="0" y="150749"/>
                  </a:lnTo>
                  <a:lnTo>
                    <a:pt x="19050" y="150749"/>
                  </a:lnTo>
                  <a:lnTo>
                    <a:pt x="0" y="150749"/>
                  </a:lnTo>
                  <a:moveTo>
                    <a:pt x="38100" y="150749"/>
                  </a:moveTo>
                  <a:lnTo>
                    <a:pt x="38100" y="1611376"/>
                  </a:lnTo>
                  <a:lnTo>
                    <a:pt x="19050" y="1611376"/>
                  </a:lnTo>
                  <a:lnTo>
                    <a:pt x="38100" y="1611376"/>
                  </a:lnTo>
                  <a:cubicBezTo>
                    <a:pt x="38100" y="1673225"/>
                    <a:pt x="89281" y="1724025"/>
                    <a:pt x="153162" y="1724025"/>
                  </a:cubicBezTo>
                  <a:lnTo>
                    <a:pt x="9383141" y="1724025"/>
                  </a:lnTo>
                  <a:cubicBezTo>
                    <a:pt x="9447023" y="1724025"/>
                    <a:pt x="9498203" y="1673225"/>
                    <a:pt x="9498203" y="1611376"/>
                  </a:cubicBezTo>
                  <a:lnTo>
                    <a:pt x="9498203" y="150749"/>
                  </a:lnTo>
                  <a:cubicBezTo>
                    <a:pt x="9498203" y="88900"/>
                    <a:pt x="9447022" y="38100"/>
                    <a:pt x="9383141" y="38100"/>
                  </a:cubicBezTo>
                  <a:lnTo>
                    <a:pt x="153162" y="38100"/>
                  </a:lnTo>
                  <a:lnTo>
                    <a:pt x="153162" y="19050"/>
                  </a:lnTo>
                  <a:lnTo>
                    <a:pt x="153162" y="38100"/>
                  </a:lnTo>
                  <a:cubicBezTo>
                    <a:pt x="89281" y="38100"/>
                    <a:pt x="38100" y="88900"/>
                    <a:pt x="38100" y="150749"/>
                  </a:cubicBezTo>
                  <a:close/>
                </a:path>
              </a:pathLst>
            </a:custGeom>
            <a:solidFill>
              <a:srgbClr val="922022"/>
            </a:solidFill>
          </p:spPr>
        </p:sp>
      </p:grpSp>
      <p:sp>
        <p:nvSpPr>
          <p:cNvPr id="25" name="TextBox 25"/>
          <p:cNvSpPr txBox="1"/>
          <p:nvPr/>
        </p:nvSpPr>
        <p:spPr>
          <a:xfrm>
            <a:off x="9497168" y="3895134"/>
            <a:ext cx="2613422" cy="355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00" b="1">
                <a:solidFill>
                  <a:srgbClr val="E5E0DF"/>
                </a:solidFill>
                <a:latin typeface="Barlow Medium"/>
                <a:ea typeface="Barlow Medium"/>
                <a:cs typeface="Barlow Medium"/>
                <a:sym typeface="Barlow Medium"/>
              </a:rPr>
              <a:t>Reason Codes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497168" y="4319740"/>
            <a:ext cx="6596215" cy="369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812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Explainable detection logic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930746" y="5154663"/>
            <a:ext cx="14426355" cy="3423342"/>
            <a:chOff x="0" y="0"/>
            <a:chExt cx="19235141" cy="456445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9235165" cy="4564380"/>
            </a:xfrm>
            <a:custGeom>
              <a:avLst/>
              <a:gdLst/>
              <a:ahLst/>
              <a:cxnLst/>
              <a:rect l="l" t="t" r="r" b="b"/>
              <a:pathLst>
                <a:path w="19235165" h="4564380">
                  <a:moveTo>
                    <a:pt x="0" y="131699"/>
                  </a:moveTo>
                  <a:cubicBezTo>
                    <a:pt x="0" y="58928"/>
                    <a:pt x="58928" y="0"/>
                    <a:pt x="131699" y="0"/>
                  </a:cubicBezTo>
                  <a:lnTo>
                    <a:pt x="19103467" y="0"/>
                  </a:lnTo>
                  <a:cubicBezTo>
                    <a:pt x="19176237" y="0"/>
                    <a:pt x="19235165" y="58928"/>
                    <a:pt x="19235165" y="131699"/>
                  </a:cubicBezTo>
                  <a:lnTo>
                    <a:pt x="19235165" y="4432681"/>
                  </a:lnTo>
                  <a:cubicBezTo>
                    <a:pt x="19235165" y="4505452"/>
                    <a:pt x="19176237" y="4564380"/>
                    <a:pt x="19103467" y="4564380"/>
                  </a:cubicBezTo>
                  <a:lnTo>
                    <a:pt x="131699" y="4564380"/>
                  </a:lnTo>
                  <a:cubicBezTo>
                    <a:pt x="58928" y="4564507"/>
                    <a:pt x="0" y="4505452"/>
                    <a:pt x="0" y="4432681"/>
                  </a:cubicBezTo>
                  <a:close/>
                </a:path>
              </a:pathLst>
            </a:custGeom>
            <a:solidFill>
              <a:srgbClr val="480405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2165899" y="5430593"/>
            <a:ext cx="326679" cy="261347"/>
            <a:chOff x="0" y="0"/>
            <a:chExt cx="435572" cy="348463"/>
          </a:xfrm>
        </p:grpSpPr>
        <p:sp>
          <p:nvSpPr>
            <p:cNvPr id="30" name="Freeform 30" descr="preencoded.png"/>
            <p:cNvSpPr/>
            <p:nvPr/>
          </p:nvSpPr>
          <p:spPr>
            <a:xfrm>
              <a:off x="0" y="0"/>
              <a:ext cx="435610" cy="348488"/>
            </a:xfrm>
            <a:custGeom>
              <a:avLst/>
              <a:gdLst/>
              <a:ahLst/>
              <a:cxnLst/>
              <a:rect l="l" t="t" r="r" b="b"/>
              <a:pathLst>
                <a:path w="435610" h="348488">
                  <a:moveTo>
                    <a:pt x="0" y="0"/>
                  </a:moveTo>
                  <a:lnTo>
                    <a:pt x="435610" y="0"/>
                  </a:lnTo>
                  <a:lnTo>
                    <a:pt x="435610" y="348488"/>
                  </a:lnTo>
                  <a:lnTo>
                    <a:pt x="0" y="348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70" r="-361" b="7"/>
              </a:stretch>
            </a:blipFill>
          </p:spPr>
        </p:sp>
      </p:grpSp>
      <p:sp>
        <p:nvSpPr>
          <p:cNvPr id="31" name="TextBox 31"/>
          <p:cNvSpPr txBox="1"/>
          <p:nvPr/>
        </p:nvSpPr>
        <p:spPr>
          <a:xfrm>
            <a:off x="2727722" y="5364061"/>
            <a:ext cx="2613422" cy="355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00" b="1">
                <a:solidFill>
                  <a:srgbClr val="FFFFFF"/>
                </a:solidFill>
                <a:latin typeface="Barlow Medium"/>
                <a:ea typeface="Barlow Medium"/>
                <a:cs typeface="Barlow Medium"/>
                <a:sym typeface="Barlow Medium"/>
              </a:rPr>
              <a:t>Example Alert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727722" y="5860409"/>
            <a:ext cx="13394236" cy="369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812" b="1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Risk Score:</a:t>
            </a:r>
            <a:r>
              <a:rPr lang="en-US" sz="1812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 92%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727722" y="6353175"/>
            <a:ext cx="13394236" cy="369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812" b="1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Reasons: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727722" y="6845941"/>
            <a:ext cx="13394236" cy="1551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3348" lvl="1" indent="-136674" algn="l">
              <a:lnSpc>
                <a:spcPts val="2562"/>
              </a:lnSpc>
              <a:buFont typeface="Arial"/>
              <a:buChar char="•"/>
            </a:pPr>
            <a:r>
              <a:rPr lang="en-US" sz="1812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4 transfers in 3 minutes</a:t>
            </a:r>
          </a:p>
          <a:p>
            <a:pPr marL="273348" lvl="1" indent="-136674" algn="l">
              <a:lnSpc>
                <a:spcPts val="2562"/>
              </a:lnSpc>
              <a:buFont typeface="Arial"/>
              <a:buChar char="•"/>
            </a:pPr>
            <a:r>
              <a:rPr lang="en-US" sz="1812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Shared device with 3 flagged accounts</a:t>
            </a:r>
          </a:p>
          <a:p>
            <a:pPr marL="273348" lvl="1" indent="-136674" algn="l">
              <a:lnSpc>
                <a:spcPts val="2562"/>
              </a:lnSpc>
              <a:buFont typeface="Arial"/>
              <a:buChar char="•"/>
            </a:pPr>
            <a:r>
              <a:rPr lang="en-US" sz="1812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Member of high-risk cluster</a:t>
            </a:r>
          </a:p>
          <a:p>
            <a:pPr marL="273348" lvl="1" indent="-136674" algn="l">
              <a:lnSpc>
                <a:spcPts val="2562"/>
              </a:lnSpc>
              <a:buFont typeface="Arial"/>
              <a:buChar char="•"/>
            </a:pPr>
            <a:r>
              <a:rPr lang="en-US" sz="1812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Unusual ATM withdrawal sequence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930746" y="8741569"/>
            <a:ext cx="14426355" cy="369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812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Ensures compliance transparency and audit-ready documentation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91718">
                <a:alpha val="90196"/>
              </a:srgbClr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584032" y="1456744"/>
            <a:ext cx="15675268" cy="1633828"/>
            <a:chOff x="0" y="0"/>
            <a:chExt cx="20900357" cy="2178437"/>
          </a:xfrm>
        </p:grpSpPr>
        <p:sp>
          <p:nvSpPr>
            <p:cNvPr id="5" name="Freeform 5"/>
            <p:cNvSpPr/>
            <p:nvPr/>
          </p:nvSpPr>
          <p:spPr>
            <a:xfrm>
              <a:off x="41752" y="23551"/>
              <a:ext cx="20816992" cy="2131336"/>
            </a:xfrm>
            <a:custGeom>
              <a:avLst/>
              <a:gdLst/>
              <a:ahLst/>
              <a:cxnLst/>
              <a:rect l="l" t="t" r="r" b="b"/>
              <a:pathLst>
                <a:path w="20816992" h="2131336">
                  <a:moveTo>
                    <a:pt x="0" y="162813"/>
                  </a:moveTo>
                  <a:cubicBezTo>
                    <a:pt x="0" y="72850"/>
                    <a:pt x="131658" y="0"/>
                    <a:pt x="293934" y="0"/>
                  </a:cubicBezTo>
                  <a:lnTo>
                    <a:pt x="20523058" y="0"/>
                  </a:lnTo>
                  <a:cubicBezTo>
                    <a:pt x="20685335" y="0"/>
                    <a:pt x="20816992" y="72850"/>
                    <a:pt x="20816992" y="162813"/>
                  </a:cubicBezTo>
                  <a:lnTo>
                    <a:pt x="20816992" y="1968522"/>
                  </a:lnTo>
                  <a:cubicBezTo>
                    <a:pt x="20816992" y="2058485"/>
                    <a:pt x="20685335" y="2131335"/>
                    <a:pt x="20523058" y="2131335"/>
                  </a:cubicBezTo>
                  <a:lnTo>
                    <a:pt x="293934" y="2131335"/>
                  </a:lnTo>
                  <a:cubicBezTo>
                    <a:pt x="131658" y="2131335"/>
                    <a:pt x="0" y="2058485"/>
                    <a:pt x="0" y="1968522"/>
                  </a:cubicBezTo>
                  <a:close/>
                </a:path>
              </a:pathLst>
            </a:custGeom>
            <a:solidFill>
              <a:srgbClr val="191718">
                <a:alpha val="90196"/>
              </a:srgbClr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0" y="0"/>
              <a:ext cx="20900420" cy="2178437"/>
            </a:xfrm>
            <a:custGeom>
              <a:avLst/>
              <a:gdLst/>
              <a:ahLst/>
              <a:cxnLst/>
              <a:rect l="l" t="t" r="r" b="b"/>
              <a:pathLst>
                <a:path w="20900420" h="2178437">
                  <a:moveTo>
                    <a:pt x="0" y="186364"/>
                  </a:moveTo>
                  <a:cubicBezTo>
                    <a:pt x="0" y="83055"/>
                    <a:pt x="150864" y="0"/>
                    <a:pt x="335686" y="0"/>
                  </a:cubicBezTo>
                  <a:lnTo>
                    <a:pt x="20564810" y="0"/>
                  </a:lnTo>
                  <a:lnTo>
                    <a:pt x="20564810" y="23551"/>
                  </a:lnTo>
                  <a:lnTo>
                    <a:pt x="20564810" y="0"/>
                  </a:lnTo>
                  <a:cubicBezTo>
                    <a:pt x="20749354" y="0"/>
                    <a:pt x="20900420" y="83055"/>
                    <a:pt x="20900420" y="186364"/>
                  </a:cubicBezTo>
                  <a:lnTo>
                    <a:pt x="20858744" y="186364"/>
                  </a:lnTo>
                  <a:lnTo>
                    <a:pt x="20900420" y="186364"/>
                  </a:lnTo>
                  <a:lnTo>
                    <a:pt x="20900420" y="1992073"/>
                  </a:lnTo>
                  <a:lnTo>
                    <a:pt x="20858744" y="1992073"/>
                  </a:lnTo>
                  <a:lnTo>
                    <a:pt x="20900420" y="1992073"/>
                  </a:lnTo>
                  <a:cubicBezTo>
                    <a:pt x="20900420" y="2095382"/>
                    <a:pt x="20749633" y="2178437"/>
                    <a:pt x="20564810" y="2178437"/>
                  </a:cubicBezTo>
                  <a:lnTo>
                    <a:pt x="20564810" y="2154886"/>
                  </a:lnTo>
                  <a:lnTo>
                    <a:pt x="20564810" y="2178437"/>
                  </a:lnTo>
                  <a:lnTo>
                    <a:pt x="335686" y="2178437"/>
                  </a:lnTo>
                  <a:lnTo>
                    <a:pt x="335686" y="2154886"/>
                  </a:lnTo>
                  <a:lnTo>
                    <a:pt x="335686" y="2178437"/>
                  </a:lnTo>
                  <a:cubicBezTo>
                    <a:pt x="150864" y="2178437"/>
                    <a:pt x="0" y="2095382"/>
                    <a:pt x="0" y="1992073"/>
                  </a:cubicBezTo>
                  <a:lnTo>
                    <a:pt x="0" y="186364"/>
                  </a:lnTo>
                  <a:lnTo>
                    <a:pt x="41752" y="186364"/>
                  </a:lnTo>
                  <a:lnTo>
                    <a:pt x="0" y="186364"/>
                  </a:lnTo>
                  <a:moveTo>
                    <a:pt x="83504" y="186364"/>
                  </a:moveTo>
                  <a:lnTo>
                    <a:pt x="83504" y="1992073"/>
                  </a:lnTo>
                  <a:lnTo>
                    <a:pt x="41752" y="1992073"/>
                  </a:lnTo>
                  <a:lnTo>
                    <a:pt x="83504" y="1992073"/>
                  </a:lnTo>
                  <a:cubicBezTo>
                    <a:pt x="83504" y="2068534"/>
                    <a:pt x="195678" y="2131336"/>
                    <a:pt x="335686" y="2131336"/>
                  </a:cubicBezTo>
                  <a:lnTo>
                    <a:pt x="20564810" y="2131336"/>
                  </a:lnTo>
                  <a:cubicBezTo>
                    <a:pt x="20704820" y="2131336"/>
                    <a:pt x="20816993" y="2068534"/>
                    <a:pt x="20816993" y="1992073"/>
                  </a:cubicBezTo>
                  <a:lnTo>
                    <a:pt x="20816993" y="186364"/>
                  </a:lnTo>
                  <a:cubicBezTo>
                    <a:pt x="20816714" y="109903"/>
                    <a:pt x="20704541" y="47101"/>
                    <a:pt x="20564810" y="47101"/>
                  </a:cubicBezTo>
                  <a:lnTo>
                    <a:pt x="335686" y="47101"/>
                  </a:lnTo>
                  <a:lnTo>
                    <a:pt x="335686" y="23551"/>
                  </a:lnTo>
                  <a:lnTo>
                    <a:pt x="335686" y="47101"/>
                  </a:lnTo>
                  <a:cubicBezTo>
                    <a:pt x="195678" y="47101"/>
                    <a:pt x="83504" y="109903"/>
                    <a:pt x="83504" y="186364"/>
                  </a:cubicBezTo>
                  <a:close/>
                </a:path>
              </a:pathLst>
            </a:custGeom>
            <a:solidFill>
              <a:srgbClr val="922022"/>
            </a:solidFill>
          </p:spPr>
        </p:sp>
      </p:grpSp>
      <p:sp>
        <p:nvSpPr>
          <p:cNvPr id="7" name="TextBox 7"/>
          <p:cNvSpPr txBox="1"/>
          <p:nvPr/>
        </p:nvSpPr>
        <p:spPr>
          <a:xfrm>
            <a:off x="468497" y="384175"/>
            <a:ext cx="6434336" cy="644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25"/>
              </a:lnSpc>
            </a:pPr>
            <a:r>
              <a:rPr lang="en-US" sz="4062" b="1">
                <a:solidFill>
                  <a:srgbClr val="FFFFFF"/>
                </a:solidFill>
                <a:latin typeface="Barlow Medium"/>
                <a:ea typeface="Barlow Medium"/>
                <a:cs typeface="Barlow Medium"/>
                <a:sym typeface="Barlow Medium"/>
              </a:rPr>
              <a:t>Prototype Development Plan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584032" y="3509672"/>
            <a:ext cx="15675268" cy="1633828"/>
            <a:chOff x="0" y="0"/>
            <a:chExt cx="20900357" cy="2178437"/>
          </a:xfrm>
        </p:grpSpPr>
        <p:sp>
          <p:nvSpPr>
            <p:cNvPr id="9" name="Freeform 9"/>
            <p:cNvSpPr/>
            <p:nvPr/>
          </p:nvSpPr>
          <p:spPr>
            <a:xfrm>
              <a:off x="41752" y="23551"/>
              <a:ext cx="20816992" cy="2131336"/>
            </a:xfrm>
            <a:custGeom>
              <a:avLst/>
              <a:gdLst/>
              <a:ahLst/>
              <a:cxnLst/>
              <a:rect l="l" t="t" r="r" b="b"/>
              <a:pathLst>
                <a:path w="20816992" h="2131336">
                  <a:moveTo>
                    <a:pt x="0" y="162813"/>
                  </a:moveTo>
                  <a:cubicBezTo>
                    <a:pt x="0" y="72850"/>
                    <a:pt x="131658" y="0"/>
                    <a:pt x="293934" y="0"/>
                  </a:cubicBezTo>
                  <a:lnTo>
                    <a:pt x="20523058" y="0"/>
                  </a:lnTo>
                  <a:cubicBezTo>
                    <a:pt x="20685335" y="0"/>
                    <a:pt x="20816992" y="72850"/>
                    <a:pt x="20816992" y="162813"/>
                  </a:cubicBezTo>
                  <a:lnTo>
                    <a:pt x="20816992" y="1968522"/>
                  </a:lnTo>
                  <a:cubicBezTo>
                    <a:pt x="20816992" y="2058485"/>
                    <a:pt x="20685335" y="2131335"/>
                    <a:pt x="20523058" y="2131335"/>
                  </a:cubicBezTo>
                  <a:lnTo>
                    <a:pt x="293934" y="2131335"/>
                  </a:lnTo>
                  <a:cubicBezTo>
                    <a:pt x="131658" y="2131335"/>
                    <a:pt x="0" y="2058485"/>
                    <a:pt x="0" y="1968522"/>
                  </a:cubicBezTo>
                  <a:close/>
                </a:path>
              </a:pathLst>
            </a:custGeom>
            <a:solidFill>
              <a:srgbClr val="191718">
                <a:alpha val="90196"/>
              </a:srgbClr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20900420" cy="2178437"/>
            </a:xfrm>
            <a:custGeom>
              <a:avLst/>
              <a:gdLst/>
              <a:ahLst/>
              <a:cxnLst/>
              <a:rect l="l" t="t" r="r" b="b"/>
              <a:pathLst>
                <a:path w="20900420" h="2178437">
                  <a:moveTo>
                    <a:pt x="0" y="186364"/>
                  </a:moveTo>
                  <a:cubicBezTo>
                    <a:pt x="0" y="83055"/>
                    <a:pt x="150864" y="0"/>
                    <a:pt x="335686" y="0"/>
                  </a:cubicBezTo>
                  <a:lnTo>
                    <a:pt x="20564810" y="0"/>
                  </a:lnTo>
                  <a:lnTo>
                    <a:pt x="20564810" y="23551"/>
                  </a:lnTo>
                  <a:lnTo>
                    <a:pt x="20564810" y="0"/>
                  </a:lnTo>
                  <a:cubicBezTo>
                    <a:pt x="20749354" y="0"/>
                    <a:pt x="20900420" y="83055"/>
                    <a:pt x="20900420" y="186364"/>
                  </a:cubicBezTo>
                  <a:lnTo>
                    <a:pt x="20858744" y="186364"/>
                  </a:lnTo>
                  <a:lnTo>
                    <a:pt x="20900420" y="186364"/>
                  </a:lnTo>
                  <a:lnTo>
                    <a:pt x="20900420" y="1992073"/>
                  </a:lnTo>
                  <a:lnTo>
                    <a:pt x="20858744" y="1992073"/>
                  </a:lnTo>
                  <a:lnTo>
                    <a:pt x="20900420" y="1992073"/>
                  </a:lnTo>
                  <a:cubicBezTo>
                    <a:pt x="20900420" y="2095382"/>
                    <a:pt x="20749633" y="2178437"/>
                    <a:pt x="20564810" y="2178437"/>
                  </a:cubicBezTo>
                  <a:lnTo>
                    <a:pt x="20564810" y="2154886"/>
                  </a:lnTo>
                  <a:lnTo>
                    <a:pt x="20564810" y="2178437"/>
                  </a:lnTo>
                  <a:lnTo>
                    <a:pt x="335686" y="2178437"/>
                  </a:lnTo>
                  <a:lnTo>
                    <a:pt x="335686" y="2154886"/>
                  </a:lnTo>
                  <a:lnTo>
                    <a:pt x="335686" y="2178437"/>
                  </a:lnTo>
                  <a:cubicBezTo>
                    <a:pt x="150864" y="2178437"/>
                    <a:pt x="0" y="2095382"/>
                    <a:pt x="0" y="1992073"/>
                  </a:cubicBezTo>
                  <a:lnTo>
                    <a:pt x="0" y="186364"/>
                  </a:lnTo>
                  <a:lnTo>
                    <a:pt x="41752" y="186364"/>
                  </a:lnTo>
                  <a:lnTo>
                    <a:pt x="0" y="186364"/>
                  </a:lnTo>
                  <a:moveTo>
                    <a:pt x="83504" y="186364"/>
                  </a:moveTo>
                  <a:lnTo>
                    <a:pt x="83504" y="1992073"/>
                  </a:lnTo>
                  <a:lnTo>
                    <a:pt x="41752" y="1992073"/>
                  </a:lnTo>
                  <a:lnTo>
                    <a:pt x="83504" y="1992073"/>
                  </a:lnTo>
                  <a:cubicBezTo>
                    <a:pt x="83504" y="2068534"/>
                    <a:pt x="195678" y="2131336"/>
                    <a:pt x="335686" y="2131336"/>
                  </a:cubicBezTo>
                  <a:lnTo>
                    <a:pt x="20564810" y="2131336"/>
                  </a:lnTo>
                  <a:cubicBezTo>
                    <a:pt x="20704820" y="2131336"/>
                    <a:pt x="20816993" y="2068534"/>
                    <a:pt x="20816993" y="1992073"/>
                  </a:cubicBezTo>
                  <a:lnTo>
                    <a:pt x="20816993" y="186364"/>
                  </a:lnTo>
                  <a:cubicBezTo>
                    <a:pt x="20816714" y="109903"/>
                    <a:pt x="20704541" y="47101"/>
                    <a:pt x="20564810" y="47101"/>
                  </a:cubicBezTo>
                  <a:lnTo>
                    <a:pt x="335686" y="47101"/>
                  </a:lnTo>
                  <a:lnTo>
                    <a:pt x="335686" y="23551"/>
                  </a:lnTo>
                  <a:lnTo>
                    <a:pt x="335686" y="47101"/>
                  </a:lnTo>
                  <a:cubicBezTo>
                    <a:pt x="195678" y="47101"/>
                    <a:pt x="83504" y="109903"/>
                    <a:pt x="83504" y="186364"/>
                  </a:cubicBezTo>
                  <a:close/>
                </a:path>
              </a:pathLst>
            </a:custGeom>
            <a:solidFill>
              <a:srgbClr val="922022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584032" y="5567072"/>
            <a:ext cx="15675268" cy="1633828"/>
            <a:chOff x="0" y="0"/>
            <a:chExt cx="20900357" cy="2178437"/>
          </a:xfrm>
        </p:grpSpPr>
        <p:sp>
          <p:nvSpPr>
            <p:cNvPr id="12" name="Freeform 12"/>
            <p:cNvSpPr/>
            <p:nvPr/>
          </p:nvSpPr>
          <p:spPr>
            <a:xfrm>
              <a:off x="41752" y="23551"/>
              <a:ext cx="20816992" cy="2131336"/>
            </a:xfrm>
            <a:custGeom>
              <a:avLst/>
              <a:gdLst/>
              <a:ahLst/>
              <a:cxnLst/>
              <a:rect l="l" t="t" r="r" b="b"/>
              <a:pathLst>
                <a:path w="20816992" h="2131336">
                  <a:moveTo>
                    <a:pt x="0" y="162813"/>
                  </a:moveTo>
                  <a:cubicBezTo>
                    <a:pt x="0" y="72850"/>
                    <a:pt x="131658" y="0"/>
                    <a:pt x="293934" y="0"/>
                  </a:cubicBezTo>
                  <a:lnTo>
                    <a:pt x="20523058" y="0"/>
                  </a:lnTo>
                  <a:cubicBezTo>
                    <a:pt x="20685335" y="0"/>
                    <a:pt x="20816992" y="72850"/>
                    <a:pt x="20816992" y="162813"/>
                  </a:cubicBezTo>
                  <a:lnTo>
                    <a:pt x="20816992" y="1968522"/>
                  </a:lnTo>
                  <a:cubicBezTo>
                    <a:pt x="20816992" y="2058485"/>
                    <a:pt x="20685335" y="2131335"/>
                    <a:pt x="20523058" y="2131335"/>
                  </a:cubicBezTo>
                  <a:lnTo>
                    <a:pt x="293934" y="2131335"/>
                  </a:lnTo>
                  <a:cubicBezTo>
                    <a:pt x="131658" y="2131335"/>
                    <a:pt x="0" y="2058485"/>
                    <a:pt x="0" y="1968522"/>
                  </a:cubicBezTo>
                  <a:close/>
                </a:path>
              </a:pathLst>
            </a:custGeom>
            <a:solidFill>
              <a:srgbClr val="191718">
                <a:alpha val="90196"/>
              </a:srgbClr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20900420" cy="2178437"/>
            </a:xfrm>
            <a:custGeom>
              <a:avLst/>
              <a:gdLst/>
              <a:ahLst/>
              <a:cxnLst/>
              <a:rect l="l" t="t" r="r" b="b"/>
              <a:pathLst>
                <a:path w="20900420" h="2178437">
                  <a:moveTo>
                    <a:pt x="0" y="186364"/>
                  </a:moveTo>
                  <a:cubicBezTo>
                    <a:pt x="0" y="83055"/>
                    <a:pt x="150864" y="0"/>
                    <a:pt x="335686" y="0"/>
                  </a:cubicBezTo>
                  <a:lnTo>
                    <a:pt x="20564810" y="0"/>
                  </a:lnTo>
                  <a:lnTo>
                    <a:pt x="20564810" y="23551"/>
                  </a:lnTo>
                  <a:lnTo>
                    <a:pt x="20564810" y="0"/>
                  </a:lnTo>
                  <a:cubicBezTo>
                    <a:pt x="20749354" y="0"/>
                    <a:pt x="20900420" y="83055"/>
                    <a:pt x="20900420" y="186364"/>
                  </a:cubicBezTo>
                  <a:lnTo>
                    <a:pt x="20858744" y="186364"/>
                  </a:lnTo>
                  <a:lnTo>
                    <a:pt x="20900420" y="186364"/>
                  </a:lnTo>
                  <a:lnTo>
                    <a:pt x="20900420" y="1992073"/>
                  </a:lnTo>
                  <a:lnTo>
                    <a:pt x="20858744" y="1992073"/>
                  </a:lnTo>
                  <a:lnTo>
                    <a:pt x="20900420" y="1992073"/>
                  </a:lnTo>
                  <a:cubicBezTo>
                    <a:pt x="20900420" y="2095382"/>
                    <a:pt x="20749633" y="2178437"/>
                    <a:pt x="20564810" y="2178437"/>
                  </a:cubicBezTo>
                  <a:lnTo>
                    <a:pt x="20564810" y="2154886"/>
                  </a:lnTo>
                  <a:lnTo>
                    <a:pt x="20564810" y="2178437"/>
                  </a:lnTo>
                  <a:lnTo>
                    <a:pt x="335686" y="2178437"/>
                  </a:lnTo>
                  <a:lnTo>
                    <a:pt x="335686" y="2154886"/>
                  </a:lnTo>
                  <a:lnTo>
                    <a:pt x="335686" y="2178437"/>
                  </a:lnTo>
                  <a:cubicBezTo>
                    <a:pt x="150864" y="2178437"/>
                    <a:pt x="0" y="2095382"/>
                    <a:pt x="0" y="1992073"/>
                  </a:cubicBezTo>
                  <a:lnTo>
                    <a:pt x="0" y="186364"/>
                  </a:lnTo>
                  <a:lnTo>
                    <a:pt x="41752" y="186364"/>
                  </a:lnTo>
                  <a:lnTo>
                    <a:pt x="0" y="186364"/>
                  </a:lnTo>
                  <a:moveTo>
                    <a:pt x="83504" y="186364"/>
                  </a:moveTo>
                  <a:lnTo>
                    <a:pt x="83504" y="1992073"/>
                  </a:lnTo>
                  <a:lnTo>
                    <a:pt x="41752" y="1992073"/>
                  </a:lnTo>
                  <a:lnTo>
                    <a:pt x="83504" y="1992073"/>
                  </a:lnTo>
                  <a:cubicBezTo>
                    <a:pt x="83504" y="2068534"/>
                    <a:pt x="195678" y="2131336"/>
                    <a:pt x="335686" y="2131336"/>
                  </a:cubicBezTo>
                  <a:lnTo>
                    <a:pt x="20564810" y="2131336"/>
                  </a:lnTo>
                  <a:cubicBezTo>
                    <a:pt x="20704820" y="2131336"/>
                    <a:pt x="20816993" y="2068534"/>
                    <a:pt x="20816993" y="1992073"/>
                  </a:cubicBezTo>
                  <a:lnTo>
                    <a:pt x="20816993" y="186364"/>
                  </a:lnTo>
                  <a:cubicBezTo>
                    <a:pt x="20816714" y="109903"/>
                    <a:pt x="20704541" y="47101"/>
                    <a:pt x="20564810" y="47101"/>
                  </a:cubicBezTo>
                  <a:lnTo>
                    <a:pt x="335686" y="47101"/>
                  </a:lnTo>
                  <a:lnTo>
                    <a:pt x="335686" y="23551"/>
                  </a:lnTo>
                  <a:lnTo>
                    <a:pt x="335686" y="47101"/>
                  </a:lnTo>
                  <a:cubicBezTo>
                    <a:pt x="195678" y="47101"/>
                    <a:pt x="83504" y="109903"/>
                    <a:pt x="83504" y="186364"/>
                  </a:cubicBezTo>
                  <a:close/>
                </a:path>
              </a:pathLst>
            </a:custGeom>
            <a:solidFill>
              <a:srgbClr val="922022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584032" y="7624472"/>
            <a:ext cx="15675268" cy="1633828"/>
            <a:chOff x="0" y="0"/>
            <a:chExt cx="20900357" cy="2178437"/>
          </a:xfrm>
        </p:grpSpPr>
        <p:sp>
          <p:nvSpPr>
            <p:cNvPr id="15" name="Freeform 15"/>
            <p:cNvSpPr/>
            <p:nvPr/>
          </p:nvSpPr>
          <p:spPr>
            <a:xfrm>
              <a:off x="41752" y="23551"/>
              <a:ext cx="20816992" cy="2131336"/>
            </a:xfrm>
            <a:custGeom>
              <a:avLst/>
              <a:gdLst/>
              <a:ahLst/>
              <a:cxnLst/>
              <a:rect l="l" t="t" r="r" b="b"/>
              <a:pathLst>
                <a:path w="20816992" h="2131336">
                  <a:moveTo>
                    <a:pt x="0" y="162813"/>
                  </a:moveTo>
                  <a:cubicBezTo>
                    <a:pt x="0" y="72850"/>
                    <a:pt x="131658" y="0"/>
                    <a:pt x="293934" y="0"/>
                  </a:cubicBezTo>
                  <a:lnTo>
                    <a:pt x="20523058" y="0"/>
                  </a:lnTo>
                  <a:cubicBezTo>
                    <a:pt x="20685335" y="0"/>
                    <a:pt x="20816992" y="72850"/>
                    <a:pt x="20816992" y="162813"/>
                  </a:cubicBezTo>
                  <a:lnTo>
                    <a:pt x="20816992" y="1968522"/>
                  </a:lnTo>
                  <a:cubicBezTo>
                    <a:pt x="20816992" y="2058485"/>
                    <a:pt x="20685335" y="2131335"/>
                    <a:pt x="20523058" y="2131335"/>
                  </a:cubicBezTo>
                  <a:lnTo>
                    <a:pt x="293934" y="2131335"/>
                  </a:lnTo>
                  <a:cubicBezTo>
                    <a:pt x="131658" y="2131335"/>
                    <a:pt x="0" y="2058485"/>
                    <a:pt x="0" y="1968522"/>
                  </a:cubicBezTo>
                  <a:close/>
                </a:path>
              </a:pathLst>
            </a:custGeom>
            <a:solidFill>
              <a:srgbClr val="191718">
                <a:alpha val="90196"/>
              </a:srgbClr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20900420" cy="2178437"/>
            </a:xfrm>
            <a:custGeom>
              <a:avLst/>
              <a:gdLst/>
              <a:ahLst/>
              <a:cxnLst/>
              <a:rect l="l" t="t" r="r" b="b"/>
              <a:pathLst>
                <a:path w="20900420" h="2178437">
                  <a:moveTo>
                    <a:pt x="0" y="186364"/>
                  </a:moveTo>
                  <a:cubicBezTo>
                    <a:pt x="0" y="83055"/>
                    <a:pt x="150864" y="0"/>
                    <a:pt x="335686" y="0"/>
                  </a:cubicBezTo>
                  <a:lnTo>
                    <a:pt x="20564810" y="0"/>
                  </a:lnTo>
                  <a:lnTo>
                    <a:pt x="20564810" y="23551"/>
                  </a:lnTo>
                  <a:lnTo>
                    <a:pt x="20564810" y="0"/>
                  </a:lnTo>
                  <a:cubicBezTo>
                    <a:pt x="20749354" y="0"/>
                    <a:pt x="20900420" y="83055"/>
                    <a:pt x="20900420" y="186364"/>
                  </a:cubicBezTo>
                  <a:lnTo>
                    <a:pt x="20858744" y="186364"/>
                  </a:lnTo>
                  <a:lnTo>
                    <a:pt x="20900420" y="186364"/>
                  </a:lnTo>
                  <a:lnTo>
                    <a:pt x="20900420" y="1992073"/>
                  </a:lnTo>
                  <a:lnTo>
                    <a:pt x="20858744" y="1992073"/>
                  </a:lnTo>
                  <a:lnTo>
                    <a:pt x="20900420" y="1992073"/>
                  </a:lnTo>
                  <a:cubicBezTo>
                    <a:pt x="20900420" y="2095382"/>
                    <a:pt x="20749633" y="2178437"/>
                    <a:pt x="20564810" y="2178437"/>
                  </a:cubicBezTo>
                  <a:lnTo>
                    <a:pt x="20564810" y="2154886"/>
                  </a:lnTo>
                  <a:lnTo>
                    <a:pt x="20564810" y="2178437"/>
                  </a:lnTo>
                  <a:lnTo>
                    <a:pt x="335686" y="2178437"/>
                  </a:lnTo>
                  <a:lnTo>
                    <a:pt x="335686" y="2154886"/>
                  </a:lnTo>
                  <a:lnTo>
                    <a:pt x="335686" y="2178437"/>
                  </a:lnTo>
                  <a:cubicBezTo>
                    <a:pt x="150864" y="2178437"/>
                    <a:pt x="0" y="2095382"/>
                    <a:pt x="0" y="1992073"/>
                  </a:cubicBezTo>
                  <a:lnTo>
                    <a:pt x="0" y="186364"/>
                  </a:lnTo>
                  <a:lnTo>
                    <a:pt x="41752" y="186364"/>
                  </a:lnTo>
                  <a:lnTo>
                    <a:pt x="0" y="186364"/>
                  </a:lnTo>
                  <a:moveTo>
                    <a:pt x="83504" y="186364"/>
                  </a:moveTo>
                  <a:lnTo>
                    <a:pt x="83504" y="1992073"/>
                  </a:lnTo>
                  <a:lnTo>
                    <a:pt x="41752" y="1992073"/>
                  </a:lnTo>
                  <a:lnTo>
                    <a:pt x="83504" y="1992073"/>
                  </a:lnTo>
                  <a:cubicBezTo>
                    <a:pt x="83504" y="2068534"/>
                    <a:pt x="195678" y="2131336"/>
                    <a:pt x="335686" y="2131336"/>
                  </a:cubicBezTo>
                  <a:lnTo>
                    <a:pt x="20564810" y="2131336"/>
                  </a:lnTo>
                  <a:cubicBezTo>
                    <a:pt x="20704820" y="2131336"/>
                    <a:pt x="20816993" y="2068534"/>
                    <a:pt x="20816993" y="1992073"/>
                  </a:cubicBezTo>
                  <a:lnTo>
                    <a:pt x="20816993" y="186364"/>
                  </a:lnTo>
                  <a:cubicBezTo>
                    <a:pt x="20816714" y="109903"/>
                    <a:pt x="20704541" y="47101"/>
                    <a:pt x="20564810" y="47101"/>
                  </a:cubicBezTo>
                  <a:lnTo>
                    <a:pt x="335686" y="47101"/>
                  </a:lnTo>
                  <a:lnTo>
                    <a:pt x="335686" y="23551"/>
                  </a:lnTo>
                  <a:lnTo>
                    <a:pt x="335686" y="47101"/>
                  </a:lnTo>
                  <a:cubicBezTo>
                    <a:pt x="195678" y="47101"/>
                    <a:pt x="83504" y="109903"/>
                    <a:pt x="83504" y="186364"/>
                  </a:cubicBezTo>
                  <a:close/>
                </a:path>
              </a:pathLst>
            </a:custGeom>
            <a:solidFill>
              <a:srgbClr val="922022"/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2071443" y="1750722"/>
            <a:ext cx="963513" cy="331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00" b="1">
                <a:solidFill>
                  <a:srgbClr val="E5E0DF"/>
                </a:solidFill>
                <a:latin typeface="Barlow Medium"/>
                <a:ea typeface="Barlow Medium"/>
                <a:cs typeface="Barlow Medium"/>
                <a:sym typeface="Barlow Medium"/>
              </a:rPr>
              <a:t>Phase 01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141663" y="3740184"/>
            <a:ext cx="1012230" cy="331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00" b="1">
                <a:solidFill>
                  <a:srgbClr val="E5E0DF"/>
                </a:solidFill>
                <a:latin typeface="Barlow Medium"/>
                <a:ea typeface="Barlow Medium"/>
                <a:cs typeface="Barlow Medium"/>
                <a:sym typeface="Barlow Medium"/>
              </a:rPr>
              <a:t>Phase 02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071443" y="5728317"/>
            <a:ext cx="1007170" cy="655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00" b="1">
                <a:solidFill>
                  <a:srgbClr val="E5E0DF"/>
                </a:solidFill>
                <a:latin typeface="Barlow Medium"/>
                <a:ea typeface="Barlow Medium"/>
                <a:cs typeface="Barlow Medium"/>
                <a:sym typeface="Barlow Medium"/>
              </a:rPr>
              <a:t>Phase 03</a:t>
            </a:r>
          </a:p>
          <a:p>
            <a:pPr algn="l">
              <a:lnSpc>
                <a:spcPts val="2562"/>
              </a:lnSpc>
            </a:pPr>
            <a:endParaRPr lang="en-US" sz="2000" b="1">
              <a:solidFill>
                <a:srgbClr val="E5E0DF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2135016" y="7810500"/>
            <a:ext cx="1018877" cy="331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00" b="1">
                <a:solidFill>
                  <a:srgbClr val="E5E0DF"/>
                </a:solidFill>
                <a:latin typeface="Barlow Medium"/>
                <a:ea typeface="Barlow Medium"/>
                <a:cs typeface="Barlow Medium"/>
                <a:sym typeface="Barlow Medium"/>
              </a:rPr>
              <a:t>Phase 04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647778" y="2234910"/>
            <a:ext cx="13554423" cy="636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812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Design multi-channel transaction schema,simulate realistic banking data + mule scenarios,build unified enity graph(accounts,devicesIPs,ATMs)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575028" y="4225635"/>
            <a:ext cx="13554423" cy="636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812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Extract graph-based features (velocity, centrality, device sharing),Train GNN for node classification (Normal / Suspicious / Mule),Develop risk scoring logic with confidence metrics.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575028" y="8403286"/>
            <a:ext cx="13554423" cy="312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812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Build interactive fraud monitoring dashboard,Visualize suspicious clusters &amp; alerts,Generate regulator-ready compliance reports.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575028" y="6285610"/>
            <a:ext cx="13554423" cy="636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812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Implement real-time risk scoring pipeline,Detect mule rings using cluster analysis,Generate explainable reason codes &amp; transaction traces.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91718">
                <a:alpha val="90196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633860" y="1646482"/>
            <a:ext cx="5504859" cy="522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3125" b="1">
                <a:solidFill>
                  <a:srgbClr val="FFFFFF"/>
                </a:solidFill>
                <a:latin typeface="Barlow Medium"/>
                <a:ea typeface="Barlow Medium"/>
                <a:cs typeface="Barlow Medium"/>
                <a:sym typeface="Barlow Medium"/>
              </a:rPr>
              <a:t>Innovation, Impact &amp; Scalability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629098" y="2323357"/>
            <a:ext cx="10171805" cy="935984"/>
            <a:chOff x="0" y="0"/>
            <a:chExt cx="13562406" cy="1247978"/>
          </a:xfrm>
        </p:grpSpPr>
        <p:sp>
          <p:nvSpPr>
            <p:cNvPr id="10" name="Freeform 10"/>
            <p:cNvSpPr/>
            <p:nvPr/>
          </p:nvSpPr>
          <p:spPr>
            <a:xfrm>
              <a:off x="6350" y="6350"/>
              <a:ext cx="13549630" cy="1235329"/>
            </a:xfrm>
            <a:custGeom>
              <a:avLst/>
              <a:gdLst/>
              <a:ahLst/>
              <a:cxnLst/>
              <a:rect l="l" t="t" r="r" b="b"/>
              <a:pathLst>
                <a:path w="13549630" h="1235329">
                  <a:moveTo>
                    <a:pt x="0" y="101473"/>
                  </a:moveTo>
                  <a:cubicBezTo>
                    <a:pt x="0" y="45466"/>
                    <a:pt x="45847" y="0"/>
                    <a:pt x="102362" y="0"/>
                  </a:cubicBezTo>
                  <a:lnTo>
                    <a:pt x="13447268" y="0"/>
                  </a:lnTo>
                  <a:cubicBezTo>
                    <a:pt x="13503782" y="0"/>
                    <a:pt x="13549630" y="45466"/>
                    <a:pt x="13549630" y="101473"/>
                  </a:cubicBezTo>
                  <a:lnTo>
                    <a:pt x="13549630" y="1133856"/>
                  </a:lnTo>
                  <a:cubicBezTo>
                    <a:pt x="13549630" y="1189863"/>
                    <a:pt x="13503782" y="1235329"/>
                    <a:pt x="13447268" y="1235329"/>
                  </a:cubicBezTo>
                  <a:lnTo>
                    <a:pt x="102362" y="1235329"/>
                  </a:lnTo>
                  <a:cubicBezTo>
                    <a:pt x="45847" y="1235329"/>
                    <a:pt x="0" y="1189863"/>
                    <a:pt x="0" y="1133856"/>
                  </a:cubicBezTo>
                  <a:close/>
                </a:path>
              </a:pathLst>
            </a:custGeom>
            <a:solidFill>
              <a:srgbClr val="F65F62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0" y="0"/>
              <a:ext cx="13562330" cy="1248029"/>
            </a:xfrm>
            <a:custGeom>
              <a:avLst/>
              <a:gdLst/>
              <a:ahLst/>
              <a:cxnLst/>
              <a:rect l="l" t="t" r="r" b="b"/>
              <a:pathLst>
                <a:path w="13562330" h="1248029">
                  <a:moveTo>
                    <a:pt x="0" y="107823"/>
                  </a:moveTo>
                  <a:cubicBezTo>
                    <a:pt x="0" y="48260"/>
                    <a:pt x="48768" y="0"/>
                    <a:pt x="108712" y="0"/>
                  </a:cubicBezTo>
                  <a:lnTo>
                    <a:pt x="13453618" y="0"/>
                  </a:lnTo>
                  <a:lnTo>
                    <a:pt x="13453618" y="6350"/>
                  </a:lnTo>
                  <a:lnTo>
                    <a:pt x="13453618" y="0"/>
                  </a:lnTo>
                  <a:cubicBezTo>
                    <a:pt x="13513561" y="0"/>
                    <a:pt x="13562330" y="48260"/>
                    <a:pt x="13562330" y="107823"/>
                  </a:cubicBezTo>
                  <a:lnTo>
                    <a:pt x="13555980" y="107823"/>
                  </a:lnTo>
                  <a:lnTo>
                    <a:pt x="13562330" y="107823"/>
                  </a:lnTo>
                  <a:lnTo>
                    <a:pt x="13562330" y="1140206"/>
                  </a:lnTo>
                  <a:lnTo>
                    <a:pt x="13555980" y="1140206"/>
                  </a:lnTo>
                  <a:lnTo>
                    <a:pt x="13562330" y="1140206"/>
                  </a:lnTo>
                  <a:cubicBezTo>
                    <a:pt x="13562330" y="1199769"/>
                    <a:pt x="13513561" y="1248029"/>
                    <a:pt x="13453618" y="1248029"/>
                  </a:cubicBezTo>
                  <a:lnTo>
                    <a:pt x="13453618" y="1241679"/>
                  </a:lnTo>
                  <a:lnTo>
                    <a:pt x="13453618" y="1248029"/>
                  </a:lnTo>
                  <a:lnTo>
                    <a:pt x="108712" y="1248029"/>
                  </a:lnTo>
                  <a:lnTo>
                    <a:pt x="108712" y="1241679"/>
                  </a:lnTo>
                  <a:lnTo>
                    <a:pt x="108712" y="1248029"/>
                  </a:lnTo>
                  <a:cubicBezTo>
                    <a:pt x="48768" y="1248029"/>
                    <a:pt x="0" y="1199769"/>
                    <a:pt x="0" y="1140206"/>
                  </a:cubicBezTo>
                  <a:lnTo>
                    <a:pt x="0" y="107823"/>
                  </a:lnTo>
                  <a:lnTo>
                    <a:pt x="6350" y="107823"/>
                  </a:lnTo>
                  <a:lnTo>
                    <a:pt x="0" y="107823"/>
                  </a:lnTo>
                  <a:moveTo>
                    <a:pt x="12700" y="107823"/>
                  </a:moveTo>
                  <a:lnTo>
                    <a:pt x="12700" y="1140206"/>
                  </a:lnTo>
                  <a:lnTo>
                    <a:pt x="6350" y="1140206"/>
                  </a:lnTo>
                  <a:lnTo>
                    <a:pt x="12700" y="1140206"/>
                  </a:lnTo>
                  <a:cubicBezTo>
                    <a:pt x="12700" y="1192657"/>
                    <a:pt x="55626" y="1235329"/>
                    <a:pt x="108712" y="1235329"/>
                  </a:cubicBezTo>
                  <a:lnTo>
                    <a:pt x="13453618" y="1235329"/>
                  </a:lnTo>
                  <a:cubicBezTo>
                    <a:pt x="13506704" y="1235329"/>
                    <a:pt x="13549630" y="1192657"/>
                    <a:pt x="13549630" y="1140206"/>
                  </a:cubicBezTo>
                  <a:lnTo>
                    <a:pt x="13549630" y="107823"/>
                  </a:lnTo>
                  <a:cubicBezTo>
                    <a:pt x="13549630" y="55372"/>
                    <a:pt x="13506704" y="12700"/>
                    <a:pt x="13453618" y="12700"/>
                  </a:cubicBezTo>
                  <a:lnTo>
                    <a:pt x="108712" y="12700"/>
                  </a:lnTo>
                  <a:lnTo>
                    <a:pt x="108712" y="6350"/>
                  </a:lnTo>
                  <a:lnTo>
                    <a:pt x="108712" y="12700"/>
                  </a:lnTo>
                  <a:cubicBezTo>
                    <a:pt x="55626" y="12700"/>
                    <a:pt x="12700" y="55372"/>
                    <a:pt x="12700" y="107823"/>
                  </a:cubicBezTo>
                  <a:close/>
                </a:path>
              </a:pathLst>
            </a:custGeom>
            <a:solidFill>
              <a:srgbClr val="DC4548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824503" y="2509247"/>
            <a:ext cx="2012604" cy="261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37"/>
              </a:lnSpc>
            </a:pPr>
            <a:r>
              <a:rPr lang="en-US" sz="1562" b="1">
                <a:solidFill>
                  <a:srgbClr val="000000"/>
                </a:solidFill>
                <a:latin typeface="Barlow Medium"/>
                <a:ea typeface="Barlow Medium"/>
                <a:cs typeface="Barlow Medium"/>
                <a:sym typeface="Barlow Medium"/>
              </a:rPr>
              <a:t>Real-Time Detection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24503" y="2814933"/>
            <a:ext cx="9780984" cy="248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375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Cross-channel fraud identification as it happens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629098" y="3356077"/>
            <a:ext cx="10171805" cy="935984"/>
            <a:chOff x="0" y="0"/>
            <a:chExt cx="13562406" cy="1247978"/>
          </a:xfrm>
        </p:grpSpPr>
        <p:sp>
          <p:nvSpPr>
            <p:cNvPr id="15" name="Freeform 15"/>
            <p:cNvSpPr/>
            <p:nvPr/>
          </p:nvSpPr>
          <p:spPr>
            <a:xfrm>
              <a:off x="6350" y="6350"/>
              <a:ext cx="13549630" cy="1235329"/>
            </a:xfrm>
            <a:custGeom>
              <a:avLst/>
              <a:gdLst/>
              <a:ahLst/>
              <a:cxnLst/>
              <a:rect l="l" t="t" r="r" b="b"/>
              <a:pathLst>
                <a:path w="13549630" h="1235329">
                  <a:moveTo>
                    <a:pt x="0" y="101473"/>
                  </a:moveTo>
                  <a:cubicBezTo>
                    <a:pt x="0" y="45466"/>
                    <a:pt x="45847" y="0"/>
                    <a:pt x="102362" y="0"/>
                  </a:cubicBezTo>
                  <a:lnTo>
                    <a:pt x="13447268" y="0"/>
                  </a:lnTo>
                  <a:cubicBezTo>
                    <a:pt x="13503782" y="0"/>
                    <a:pt x="13549630" y="45466"/>
                    <a:pt x="13549630" y="101473"/>
                  </a:cubicBezTo>
                  <a:lnTo>
                    <a:pt x="13549630" y="1133856"/>
                  </a:lnTo>
                  <a:cubicBezTo>
                    <a:pt x="13549630" y="1189863"/>
                    <a:pt x="13503782" y="1235329"/>
                    <a:pt x="13447268" y="1235329"/>
                  </a:cubicBezTo>
                  <a:lnTo>
                    <a:pt x="102362" y="1235329"/>
                  </a:lnTo>
                  <a:cubicBezTo>
                    <a:pt x="45847" y="1235329"/>
                    <a:pt x="0" y="1189863"/>
                    <a:pt x="0" y="1133856"/>
                  </a:cubicBezTo>
                  <a:close/>
                </a:path>
              </a:pathLst>
            </a:custGeom>
            <a:solidFill>
              <a:srgbClr val="F65F62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13562330" cy="1248029"/>
            </a:xfrm>
            <a:custGeom>
              <a:avLst/>
              <a:gdLst/>
              <a:ahLst/>
              <a:cxnLst/>
              <a:rect l="l" t="t" r="r" b="b"/>
              <a:pathLst>
                <a:path w="13562330" h="1248029">
                  <a:moveTo>
                    <a:pt x="0" y="107823"/>
                  </a:moveTo>
                  <a:cubicBezTo>
                    <a:pt x="0" y="48260"/>
                    <a:pt x="48768" y="0"/>
                    <a:pt x="108712" y="0"/>
                  </a:cubicBezTo>
                  <a:lnTo>
                    <a:pt x="13453618" y="0"/>
                  </a:lnTo>
                  <a:lnTo>
                    <a:pt x="13453618" y="6350"/>
                  </a:lnTo>
                  <a:lnTo>
                    <a:pt x="13453618" y="0"/>
                  </a:lnTo>
                  <a:cubicBezTo>
                    <a:pt x="13513561" y="0"/>
                    <a:pt x="13562330" y="48260"/>
                    <a:pt x="13562330" y="107823"/>
                  </a:cubicBezTo>
                  <a:lnTo>
                    <a:pt x="13555980" y="107823"/>
                  </a:lnTo>
                  <a:lnTo>
                    <a:pt x="13562330" y="107823"/>
                  </a:lnTo>
                  <a:lnTo>
                    <a:pt x="13562330" y="1140206"/>
                  </a:lnTo>
                  <a:lnTo>
                    <a:pt x="13555980" y="1140206"/>
                  </a:lnTo>
                  <a:lnTo>
                    <a:pt x="13562330" y="1140206"/>
                  </a:lnTo>
                  <a:cubicBezTo>
                    <a:pt x="13562330" y="1199769"/>
                    <a:pt x="13513561" y="1248029"/>
                    <a:pt x="13453618" y="1248029"/>
                  </a:cubicBezTo>
                  <a:lnTo>
                    <a:pt x="13453618" y="1241679"/>
                  </a:lnTo>
                  <a:lnTo>
                    <a:pt x="13453618" y="1248029"/>
                  </a:lnTo>
                  <a:lnTo>
                    <a:pt x="108712" y="1248029"/>
                  </a:lnTo>
                  <a:lnTo>
                    <a:pt x="108712" y="1241679"/>
                  </a:lnTo>
                  <a:lnTo>
                    <a:pt x="108712" y="1248029"/>
                  </a:lnTo>
                  <a:cubicBezTo>
                    <a:pt x="48768" y="1248029"/>
                    <a:pt x="0" y="1199769"/>
                    <a:pt x="0" y="1140206"/>
                  </a:cubicBezTo>
                  <a:lnTo>
                    <a:pt x="0" y="107823"/>
                  </a:lnTo>
                  <a:lnTo>
                    <a:pt x="6350" y="107823"/>
                  </a:lnTo>
                  <a:lnTo>
                    <a:pt x="0" y="107823"/>
                  </a:lnTo>
                  <a:moveTo>
                    <a:pt x="12700" y="107823"/>
                  </a:moveTo>
                  <a:lnTo>
                    <a:pt x="12700" y="1140206"/>
                  </a:lnTo>
                  <a:lnTo>
                    <a:pt x="6350" y="1140206"/>
                  </a:lnTo>
                  <a:lnTo>
                    <a:pt x="12700" y="1140206"/>
                  </a:lnTo>
                  <a:cubicBezTo>
                    <a:pt x="12700" y="1192657"/>
                    <a:pt x="55626" y="1235329"/>
                    <a:pt x="108712" y="1235329"/>
                  </a:cubicBezTo>
                  <a:lnTo>
                    <a:pt x="13453618" y="1235329"/>
                  </a:lnTo>
                  <a:cubicBezTo>
                    <a:pt x="13506704" y="1235329"/>
                    <a:pt x="13549630" y="1192657"/>
                    <a:pt x="13549630" y="1140206"/>
                  </a:cubicBezTo>
                  <a:lnTo>
                    <a:pt x="13549630" y="107823"/>
                  </a:lnTo>
                  <a:cubicBezTo>
                    <a:pt x="13549630" y="55372"/>
                    <a:pt x="13506704" y="12700"/>
                    <a:pt x="13453618" y="12700"/>
                  </a:cubicBezTo>
                  <a:lnTo>
                    <a:pt x="108712" y="12700"/>
                  </a:lnTo>
                  <a:lnTo>
                    <a:pt x="108712" y="6350"/>
                  </a:lnTo>
                  <a:lnTo>
                    <a:pt x="108712" y="12700"/>
                  </a:lnTo>
                  <a:cubicBezTo>
                    <a:pt x="55626" y="12700"/>
                    <a:pt x="12700" y="55372"/>
                    <a:pt x="12700" y="107823"/>
                  </a:cubicBezTo>
                  <a:close/>
                </a:path>
              </a:pathLst>
            </a:custGeom>
            <a:solidFill>
              <a:srgbClr val="DC4548"/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824503" y="3541957"/>
            <a:ext cx="2012604" cy="261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37"/>
              </a:lnSpc>
            </a:pPr>
            <a:r>
              <a:rPr lang="en-US" sz="1562" b="1">
                <a:solidFill>
                  <a:srgbClr val="000000"/>
                </a:solidFill>
                <a:latin typeface="Barlow Medium"/>
                <a:ea typeface="Barlow Medium"/>
                <a:cs typeface="Barlow Medium"/>
                <a:sym typeface="Barlow Medium"/>
              </a:rPr>
              <a:t>Network Intelligence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24503" y="3847652"/>
            <a:ext cx="9780984" cy="248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375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Relationship-based fraud pattern analysis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629098" y="4388796"/>
            <a:ext cx="10171805" cy="935984"/>
            <a:chOff x="0" y="0"/>
            <a:chExt cx="13562406" cy="1247978"/>
          </a:xfrm>
        </p:grpSpPr>
        <p:sp>
          <p:nvSpPr>
            <p:cNvPr id="20" name="Freeform 20"/>
            <p:cNvSpPr/>
            <p:nvPr/>
          </p:nvSpPr>
          <p:spPr>
            <a:xfrm>
              <a:off x="6350" y="6350"/>
              <a:ext cx="13549630" cy="1235329"/>
            </a:xfrm>
            <a:custGeom>
              <a:avLst/>
              <a:gdLst/>
              <a:ahLst/>
              <a:cxnLst/>
              <a:rect l="l" t="t" r="r" b="b"/>
              <a:pathLst>
                <a:path w="13549630" h="1235329">
                  <a:moveTo>
                    <a:pt x="0" y="101473"/>
                  </a:moveTo>
                  <a:cubicBezTo>
                    <a:pt x="0" y="45466"/>
                    <a:pt x="45847" y="0"/>
                    <a:pt x="102362" y="0"/>
                  </a:cubicBezTo>
                  <a:lnTo>
                    <a:pt x="13447268" y="0"/>
                  </a:lnTo>
                  <a:cubicBezTo>
                    <a:pt x="13503782" y="0"/>
                    <a:pt x="13549630" y="45466"/>
                    <a:pt x="13549630" y="101473"/>
                  </a:cubicBezTo>
                  <a:lnTo>
                    <a:pt x="13549630" y="1133856"/>
                  </a:lnTo>
                  <a:cubicBezTo>
                    <a:pt x="13549630" y="1189863"/>
                    <a:pt x="13503782" y="1235329"/>
                    <a:pt x="13447268" y="1235329"/>
                  </a:cubicBezTo>
                  <a:lnTo>
                    <a:pt x="102362" y="1235329"/>
                  </a:lnTo>
                  <a:cubicBezTo>
                    <a:pt x="45847" y="1235329"/>
                    <a:pt x="0" y="1189863"/>
                    <a:pt x="0" y="1133856"/>
                  </a:cubicBezTo>
                  <a:close/>
                </a:path>
              </a:pathLst>
            </a:custGeom>
            <a:solidFill>
              <a:srgbClr val="F65F62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0"/>
              <a:ext cx="13562330" cy="1248029"/>
            </a:xfrm>
            <a:custGeom>
              <a:avLst/>
              <a:gdLst/>
              <a:ahLst/>
              <a:cxnLst/>
              <a:rect l="l" t="t" r="r" b="b"/>
              <a:pathLst>
                <a:path w="13562330" h="1248029">
                  <a:moveTo>
                    <a:pt x="0" y="107823"/>
                  </a:moveTo>
                  <a:cubicBezTo>
                    <a:pt x="0" y="48260"/>
                    <a:pt x="48768" y="0"/>
                    <a:pt x="108712" y="0"/>
                  </a:cubicBezTo>
                  <a:lnTo>
                    <a:pt x="13453618" y="0"/>
                  </a:lnTo>
                  <a:lnTo>
                    <a:pt x="13453618" y="6350"/>
                  </a:lnTo>
                  <a:lnTo>
                    <a:pt x="13453618" y="0"/>
                  </a:lnTo>
                  <a:cubicBezTo>
                    <a:pt x="13513561" y="0"/>
                    <a:pt x="13562330" y="48260"/>
                    <a:pt x="13562330" y="107823"/>
                  </a:cubicBezTo>
                  <a:lnTo>
                    <a:pt x="13555980" y="107823"/>
                  </a:lnTo>
                  <a:lnTo>
                    <a:pt x="13562330" y="107823"/>
                  </a:lnTo>
                  <a:lnTo>
                    <a:pt x="13562330" y="1140206"/>
                  </a:lnTo>
                  <a:lnTo>
                    <a:pt x="13555980" y="1140206"/>
                  </a:lnTo>
                  <a:lnTo>
                    <a:pt x="13562330" y="1140206"/>
                  </a:lnTo>
                  <a:cubicBezTo>
                    <a:pt x="13562330" y="1199769"/>
                    <a:pt x="13513561" y="1248029"/>
                    <a:pt x="13453618" y="1248029"/>
                  </a:cubicBezTo>
                  <a:lnTo>
                    <a:pt x="13453618" y="1241679"/>
                  </a:lnTo>
                  <a:lnTo>
                    <a:pt x="13453618" y="1248029"/>
                  </a:lnTo>
                  <a:lnTo>
                    <a:pt x="108712" y="1248029"/>
                  </a:lnTo>
                  <a:lnTo>
                    <a:pt x="108712" y="1241679"/>
                  </a:lnTo>
                  <a:lnTo>
                    <a:pt x="108712" y="1248029"/>
                  </a:lnTo>
                  <a:cubicBezTo>
                    <a:pt x="48768" y="1248029"/>
                    <a:pt x="0" y="1199769"/>
                    <a:pt x="0" y="1140206"/>
                  </a:cubicBezTo>
                  <a:lnTo>
                    <a:pt x="0" y="107823"/>
                  </a:lnTo>
                  <a:lnTo>
                    <a:pt x="6350" y="107823"/>
                  </a:lnTo>
                  <a:lnTo>
                    <a:pt x="0" y="107823"/>
                  </a:lnTo>
                  <a:moveTo>
                    <a:pt x="12700" y="107823"/>
                  </a:moveTo>
                  <a:lnTo>
                    <a:pt x="12700" y="1140206"/>
                  </a:lnTo>
                  <a:lnTo>
                    <a:pt x="6350" y="1140206"/>
                  </a:lnTo>
                  <a:lnTo>
                    <a:pt x="12700" y="1140206"/>
                  </a:lnTo>
                  <a:cubicBezTo>
                    <a:pt x="12700" y="1192657"/>
                    <a:pt x="55626" y="1235329"/>
                    <a:pt x="108712" y="1235329"/>
                  </a:cubicBezTo>
                  <a:lnTo>
                    <a:pt x="13453618" y="1235329"/>
                  </a:lnTo>
                  <a:cubicBezTo>
                    <a:pt x="13506704" y="1235329"/>
                    <a:pt x="13549630" y="1192657"/>
                    <a:pt x="13549630" y="1140206"/>
                  </a:cubicBezTo>
                  <a:lnTo>
                    <a:pt x="13549630" y="107823"/>
                  </a:lnTo>
                  <a:cubicBezTo>
                    <a:pt x="13549630" y="55372"/>
                    <a:pt x="13506704" y="12700"/>
                    <a:pt x="13453618" y="12700"/>
                  </a:cubicBezTo>
                  <a:lnTo>
                    <a:pt x="108712" y="12700"/>
                  </a:lnTo>
                  <a:lnTo>
                    <a:pt x="108712" y="6350"/>
                  </a:lnTo>
                  <a:lnTo>
                    <a:pt x="108712" y="12700"/>
                  </a:lnTo>
                  <a:cubicBezTo>
                    <a:pt x="55626" y="12700"/>
                    <a:pt x="12700" y="55372"/>
                    <a:pt x="12700" y="107823"/>
                  </a:cubicBezTo>
                  <a:close/>
                </a:path>
              </a:pathLst>
            </a:custGeom>
            <a:solidFill>
              <a:srgbClr val="DC4548"/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824503" y="4574677"/>
            <a:ext cx="2117827" cy="261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37"/>
              </a:lnSpc>
            </a:pPr>
            <a:r>
              <a:rPr lang="en-US" sz="1562" b="1">
                <a:solidFill>
                  <a:srgbClr val="000000"/>
                </a:solidFill>
                <a:latin typeface="Barlow Medium"/>
                <a:ea typeface="Barlow Medium"/>
                <a:cs typeface="Barlow Medium"/>
                <a:sym typeface="Barlow Medium"/>
              </a:rPr>
              <a:t>Reduced False Positives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24503" y="4880372"/>
            <a:ext cx="9780984" cy="248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375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Context-aware scoring minimizes false alarms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629098" y="5421516"/>
            <a:ext cx="10171805" cy="935984"/>
            <a:chOff x="0" y="0"/>
            <a:chExt cx="13562406" cy="1247978"/>
          </a:xfrm>
        </p:grpSpPr>
        <p:sp>
          <p:nvSpPr>
            <p:cNvPr id="25" name="Freeform 25"/>
            <p:cNvSpPr/>
            <p:nvPr/>
          </p:nvSpPr>
          <p:spPr>
            <a:xfrm>
              <a:off x="6350" y="6350"/>
              <a:ext cx="13549630" cy="1235329"/>
            </a:xfrm>
            <a:custGeom>
              <a:avLst/>
              <a:gdLst/>
              <a:ahLst/>
              <a:cxnLst/>
              <a:rect l="l" t="t" r="r" b="b"/>
              <a:pathLst>
                <a:path w="13549630" h="1235329">
                  <a:moveTo>
                    <a:pt x="0" y="101473"/>
                  </a:moveTo>
                  <a:cubicBezTo>
                    <a:pt x="0" y="45466"/>
                    <a:pt x="45847" y="0"/>
                    <a:pt x="102362" y="0"/>
                  </a:cubicBezTo>
                  <a:lnTo>
                    <a:pt x="13447268" y="0"/>
                  </a:lnTo>
                  <a:cubicBezTo>
                    <a:pt x="13503782" y="0"/>
                    <a:pt x="13549630" y="45466"/>
                    <a:pt x="13549630" y="101473"/>
                  </a:cubicBezTo>
                  <a:lnTo>
                    <a:pt x="13549630" y="1133856"/>
                  </a:lnTo>
                  <a:cubicBezTo>
                    <a:pt x="13549630" y="1189863"/>
                    <a:pt x="13503782" y="1235329"/>
                    <a:pt x="13447268" y="1235329"/>
                  </a:cubicBezTo>
                  <a:lnTo>
                    <a:pt x="102362" y="1235329"/>
                  </a:lnTo>
                  <a:cubicBezTo>
                    <a:pt x="45847" y="1235329"/>
                    <a:pt x="0" y="1189863"/>
                    <a:pt x="0" y="1133856"/>
                  </a:cubicBezTo>
                  <a:close/>
                </a:path>
              </a:pathLst>
            </a:custGeom>
            <a:solidFill>
              <a:srgbClr val="F65F62"/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0" y="0"/>
              <a:ext cx="13562330" cy="1248029"/>
            </a:xfrm>
            <a:custGeom>
              <a:avLst/>
              <a:gdLst/>
              <a:ahLst/>
              <a:cxnLst/>
              <a:rect l="l" t="t" r="r" b="b"/>
              <a:pathLst>
                <a:path w="13562330" h="1248029">
                  <a:moveTo>
                    <a:pt x="0" y="107823"/>
                  </a:moveTo>
                  <a:cubicBezTo>
                    <a:pt x="0" y="48260"/>
                    <a:pt x="48768" y="0"/>
                    <a:pt x="108712" y="0"/>
                  </a:cubicBezTo>
                  <a:lnTo>
                    <a:pt x="13453618" y="0"/>
                  </a:lnTo>
                  <a:lnTo>
                    <a:pt x="13453618" y="6350"/>
                  </a:lnTo>
                  <a:lnTo>
                    <a:pt x="13453618" y="0"/>
                  </a:lnTo>
                  <a:cubicBezTo>
                    <a:pt x="13513561" y="0"/>
                    <a:pt x="13562330" y="48260"/>
                    <a:pt x="13562330" y="107823"/>
                  </a:cubicBezTo>
                  <a:lnTo>
                    <a:pt x="13555980" y="107823"/>
                  </a:lnTo>
                  <a:lnTo>
                    <a:pt x="13562330" y="107823"/>
                  </a:lnTo>
                  <a:lnTo>
                    <a:pt x="13562330" y="1140206"/>
                  </a:lnTo>
                  <a:lnTo>
                    <a:pt x="13555980" y="1140206"/>
                  </a:lnTo>
                  <a:lnTo>
                    <a:pt x="13562330" y="1140206"/>
                  </a:lnTo>
                  <a:cubicBezTo>
                    <a:pt x="13562330" y="1199769"/>
                    <a:pt x="13513561" y="1248029"/>
                    <a:pt x="13453618" y="1248029"/>
                  </a:cubicBezTo>
                  <a:lnTo>
                    <a:pt x="13453618" y="1241679"/>
                  </a:lnTo>
                  <a:lnTo>
                    <a:pt x="13453618" y="1248029"/>
                  </a:lnTo>
                  <a:lnTo>
                    <a:pt x="108712" y="1248029"/>
                  </a:lnTo>
                  <a:lnTo>
                    <a:pt x="108712" y="1241679"/>
                  </a:lnTo>
                  <a:lnTo>
                    <a:pt x="108712" y="1248029"/>
                  </a:lnTo>
                  <a:cubicBezTo>
                    <a:pt x="48768" y="1248029"/>
                    <a:pt x="0" y="1199769"/>
                    <a:pt x="0" y="1140206"/>
                  </a:cubicBezTo>
                  <a:lnTo>
                    <a:pt x="0" y="107823"/>
                  </a:lnTo>
                  <a:lnTo>
                    <a:pt x="6350" y="107823"/>
                  </a:lnTo>
                  <a:lnTo>
                    <a:pt x="0" y="107823"/>
                  </a:lnTo>
                  <a:moveTo>
                    <a:pt x="12700" y="107823"/>
                  </a:moveTo>
                  <a:lnTo>
                    <a:pt x="12700" y="1140206"/>
                  </a:lnTo>
                  <a:lnTo>
                    <a:pt x="6350" y="1140206"/>
                  </a:lnTo>
                  <a:lnTo>
                    <a:pt x="12700" y="1140206"/>
                  </a:lnTo>
                  <a:cubicBezTo>
                    <a:pt x="12700" y="1192657"/>
                    <a:pt x="55626" y="1235329"/>
                    <a:pt x="108712" y="1235329"/>
                  </a:cubicBezTo>
                  <a:lnTo>
                    <a:pt x="13453618" y="1235329"/>
                  </a:lnTo>
                  <a:cubicBezTo>
                    <a:pt x="13506704" y="1235329"/>
                    <a:pt x="13549630" y="1192657"/>
                    <a:pt x="13549630" y="1140206"/>
                  </a:cubicBezTo>
                  <a:lnTo>
                    <a:pt x="13549630" y="107823"/>
                  </a:lnTo>
                  <a:cubicBezTo>
                    <a:pt x="13549630" y="55372"/>
                    <a:pt x="13506704" y="12700"/>
                    <a:pt x="13453618" y="12700"/>
                  </a:cubicBezTo>
                  <a:lnTo>
                    <a:pt x="108712" y="12700"/>
                  </a:lnTo>
                  <a:lnTo>
                    <a:pt x="108712" y="6350"/>
                  </a:lnTo>
                  <a:lnTo>
                    <a:pt x="108712" y="12700"/>
                  </a:lnTo>
                  <a:cubicBezTo>
                    <a:pt x="55626" y="12700"/>
                    <a:pt x="12700" y="55372"/>
                    <a:pt x="12700" y="107823"/>
                  </a:cubicBezTo>
                  <a:close/>
                </a:path>
              </a:pathLst>
            </a:custGeom>
            <a:solidFill>
              <a:srgbClr val="DC4548"/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824503" y="5607396"/>
            <a:ext cx="2012604" cy="261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37"/>
              </a:lnSpc>
            </a:pPr>
            <a:r>
              <a:rPr lang="en-US" sz="1562" b="1">
                <a:solidFill>
                  <a:srgbClr val="000000"/>
                </a:solidFill>
                <a:latin typeface="Barlow Medium"/>
                <a:ea typeface="Barlow Medium"/>
                <a:cs typeface="Barlow Medium"/>
                <a:sym typeface="Barlow Medium"/>
              </a:rPr>
              <a:t>Early Disruption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24503" y="5913091"/>
            <a:ext cx="9780984" cy="248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375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Mule ring blocking before funds exit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33860" y="6493078"/>
            <a:ext cx="2415178" cy="320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74" b="1">
                <a:solidFill>
                  <a:srgbClr val="FFFFFF"/>
                </a:solidFill>
                <a:latin typeface="Barlow Medium"/>
                <a:ea typeface="Barlow Medium"/>
                <a:cs typeface="Barlow Medium"/>
                <a:sym typeface="Barlow Medium"/>
              </a:rPr>
              <a:t>Future Scope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33860" y="6954288"/>
            <a:ext cx="10162280" cy="1317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07367" lvl="1" indent="-103684" algn="l">
              <a:lnSpc>
                <a:spcPts val="1750"/>
              </a:lnSpc>
              <a:buFont typeface="Arial"/>
              <a:buChar char="•"/>
            </a:pPr>
            <a:r>
              <a:rPr lang="en-US" sz="1375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Integration with core banking systems</a:t>
            </a:r>
          </a:p>
          <a:p>
            <a:pPr marL="207367" lvl="1" indent="-103684" algn="l">
              <a:lnSpc>
                <a:spcPts val="1750"/>
              </a:lnSpc>
              <a:buFont typeface="Arial"/>
              <a:buChar char="•"/>
            </a:pPr>
            <a:r>
              <a:rPr lang="en-US" sz="1375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Cross-bank intelligence federation</a:t>
            </a:r>
          </a:p>
          <a:p>
            <a:pPr marL="207367" lvl="1" indent="-103684" algn="l">
              <a:lnSpc>
                <a:spcPts val="1750"/>
              </a:lnSpc>
              <a:buFont typeface="Arial"/>
              <a:buChar char="•"/>
            </a:pPr>
            <a:r>
              <a:rPr lang="en-US" sz="1375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Cross-border risk scoring</a:t>
            </a:r>
          </a:p>
          <a:p>
            <a:pPr marL="207367" lvl="1" indent="-103684" algn="l">
              <a:lnSpc>
                <a:spcPts val="1750"/>
              </a:lnSpc>
              <a:buFont typeface="Arial"/>
              <a:buChar char="•"/>
            </a:pPr>
            <a:r>
              <a:rPr lang="en-US" sz="1375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Cloud-based deployment</a:t>
            </a:r>
          </a:p>
          <a:p>
            <a:pPr marL="207367" lvl="1" indent="-103684" algn="l">
              <a:lnSpc>
                <a:spcPts val="1750"/>
              </a:lnSpc>
              <a:buFont typeface="Arial"/>
              <a:buChar char="•"/>
            </a:pPr>
            <a:r>
              <a:rPr lang="en-US" sz="1375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Advanced behavior-based sanctions screening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33860" y="8372323"/>
            <a:ext cx="10162280" cy="248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375" b="1">
                <a:solidFill>
                  <a:srgbClr val="E5E0DF"/>
                </a:solidFill>
                <a:latin typeface="Barlow Bold"/>
                <a:ea typeface="Barlow Bold"/>
                <a:cs typeface="Barlow Bold"/>
                <a:sym typeface="Barlow Bold"/>
              </a:rPr>
              <a:t>Impact:</a:t>
            </a:r>
            <a:r>
              <a:rPr lang="en-US" sz="1375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Transforms reactive fraud detection into proactive fraud prevention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2">
                <a:alphaModFix amt="95000"/>
              </a:blip>
              <a:stretch>
                <a:fillRect t="-9211" b="-9211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468497" y="384175"/>
            <a:ext cx="2498229" cy="644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25"/>
              </a:lnSpc>
            </a:pPr>
            <a:r>
              <a:rPr lang="en-US" sz="4062" b="1">
                <a:solidFill>
                  <a:srgbClr val="FFFFFF"/>
                </a:solidFill>
                <a:latin typeface="Barlow Medium"/>
                <a:ea typeface="Barlow Medium"/>
                <a:cs typeface="Barlow Medium"/>
                <a:sym typeface="Barlow Medium"/>
              </a:rPr>
              <a:t>Conclusion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325287"/>
            <a:ext cx="9269911" cy="1282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5"/>
              </a:lnSpc>
            </a:pPr>
            <a:r>
              <a:rPr lang="en-US" sz="2142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Our solution transforms siloed transaction monitoring into a unified, graph-driven intelligence platform capable of detecting high-velocity mule networks in real time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4424954"/>
            <a:ext cx="9269911" cy="191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375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By integrating multi-channel logs, leveraging Graph Neural Networks, and providing explainable risk scoring, we enable proactive fraud prevention, regulatory transparency, and scalable enterprise deployment.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085577" y="7981956"/>
            <a:ext cx="2675731" cy="644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25"/>
              </a:lnSpc>
            </a:pPr>
            <a:r>
              <a:rPr lang="en-US" sz="4062" b="1">
                <a:solidFill>
                  <a:srgbClr val="FFFFFF"/>
                </a:solidFill>
                <a:latin typeface="Barlow Medium"/>
                <a:ea typeface="Barlow Medium"/>
                <a:cs typeface="Barlow Medium"/>
                <a:sym typeface="Barlow Medium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804</Words>
  <Application>Microsoft Office PowerPoint</Application>
  <PresentationFormat>Custom</PresentationFormat>
  <Paragraphs>168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Barlow Medium</vt:lpstr>
      <vt:lpstr>Barlow Bold</vt:lpstr>
      <vt:lpstr>Calibri</vt:lpstr>
      <vt:lpstr>Barlow Light</vt:lpstr>
      <vt:lpstr>Barlow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IntelliTrace-2026 (1).pptx</dc:title>
  <dc:creator>Dhanveer</dc:creator>
  <cp:lastModifiedBy>Dhanveer M</cp:lastModifiedBy>
  <cp:revision>1</cp:revision>
  <dcterms:created xsi:type="dcterms:W3CDTF">2006-08-16T00:00:00Z</dcterms:created>
  <dcterms:modified xsi:type="dcterms:W3CDTF">2026-07-14T16:44:30Z</dcterms:modified>
  <dc:identifier>DAHCoWVueO4</dc:identifier>
</cp:coreProperties>
</file>